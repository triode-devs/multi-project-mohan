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2"/>
    <p:sldId id="257" r:id="rId3"/>
    <p:sldId id="258" r:id="rId4"/>
    <p:sldId id="283" r:id="rId5"/>
    <p:sldId id="284" r:id="rId6"/>
    <p:sldId id="279" r:id="rId7"/>
    <p:sldId id="281" r:id="rId8"/>
    <p:sldId id="282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5" r:id="rId18"/>
    <p:sldId id="276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2596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2" d="100"/>
          <a:sy n="82" d="100"/>
        </p:scale>
        <p:origin x="-614" y="-22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84315"/>
            <a:ext cx="12034520" cy="557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7994" y="1350644"/>
            <a:ext cx="11477625" cy="414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94719" y="6463665"/>
            <a:ext cx="21844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7811"/>
            <a:ext cx="12192000" cy="6858000"/>
            <a:chOff x="359600" y="-70066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359600" y="-70066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82258" y="4195725"/>
            <a:ext cx="2367089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 dirty="0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Team Members: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2257" y="4631742"/>
            <a:ext cx="2708452" cy="1092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50"/>
              </a:lnSpc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Logeshwar S</a:t>
            </a:r>
          </a:p>
          <a:p>
            <a:pPr algn="just">
              <a:lnSpc>
                <a:spcPts val="2850"/>
              </a:lnSpc>
            </a:pPr>
            <a:r>
              <a:rPr lang="en-US" sz="24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Mohanraja</a:t>
            </a: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V</a:t>
            </a:r>
          </a:p>
          <a:p>
            <a:pPr algn="just">
              <a:lnSpc>
                <a:spcPts val="2850"/>
              </a:lnSpc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Sriram 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90709" y="4608475"/>
            <a:ext cx="2367089" cy="1092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50"/>
              </a:lnSpc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621324205026 621324205034 621324205057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12366" y="6404172"/>
            <a:ext cx="1607058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Review - 0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83474" y="2460104"/>
            <a:ext cx="2788926" cy="397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Batch Number: 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86000" y="2996459"/>
            <a:ext cx="6705600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900" b="1" dirty="0" smtClean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 Real-Time </a:t>
            </a:r>
            <a:r>
              <a:rPr lang="en-US" sz="19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Air Quality and Carbon Emission Monitoring System for Smart Campus Using IoT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12350" y="4153948"/>
            <a:ext cx="4277772" cy="1092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400" b="1" dirty="0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Supervisor:</a:t>
            </a:r>
          </a:p>
          <a:p>
            <a:pPr algn="l">
              <a:lnSpc>
                <a:spcPts val="2850"/>
              </a:lnSpc>
            </a:pPr>
            <a:r>
              <a:rPr lang="en-US" sz="24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Mr</a:t>
            </a: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.A. Duraimurugan, M.E.,</a:t>
            </a:r>
          </a:p>
          <a:p>
            <a:pPr algn="l">
              <a:lnSpc>
                <a:spcPts val="2850"/>
              </a:lnSpc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Assistant Professor / 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95600" y="1524000"/>
            <a:ext cx="7653547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98"/>
              </a:lnSpc>
            </a:pPr>
            <a:r>
              <a:rPr lang="en-US" sz="3300" b="1" dirty="0">
                <a:solidFill>
                  <a:srgbClr val="FFFFFF"/>
                </a:solidFill>
                <a:latin typeface="Arial Black" pitchFamily="34" charset="0"/>
                <a:ea typeface="Canva Sans Bold"/>
                <a:cs typeface="Times New Roman" pitchFamily="18" charset="0"/>
                <a:sym typeface="Canva Sans Bold"/>
              </a:rPr>
              <a:t>24IT504L - MINI PROJECT-I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95" rIns="0" bIns="0" rtlCol="0">
            <a:spAutoFit/>
          </a:bodyPr>
          <a:lstStyle/>
          <a:p>
            <a:pPr marL="5225415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FCFCFC"/>
                </a:solidFill>
              </a:rPr>
              <a:t>Contents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079363"/>
              </p:ext>
            </p:extLst>
          </p:nvPr>
        </p:nvGraphicFramePr>
        <p:xfrm>
          <a:off x="717550" y="765809"/>
          <a:ext cx="10522583" cy="54997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52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01738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7995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251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1" spc="-20" dirty="0">
                          <a:latin typeface="Arial" panose="020B0604020202020204"/>
                          <a:cs typeface="Arial" panose="020B0604020202020204"/>
                        </a:rPr>
                        <a:t>S.No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1" spc="-20" dirty="0">
                          <a:latin typeface="Arial" panose="020B0604020202020204"/>
                          <a:cs typeface="Arial" panose="020B0604020202020204"/>
                        </a:rPr>
                        <a:t>Table</a:t>
                      </a:r>
                      <a:r>
                        <a:rPr sz="2000" b="1" spc="-6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dirty="0">
                          <a:latin typeface="Arial" panose="020B0604020202020204"/>
                          <a:cs typeface="Arial" panose="020B0604020202020204"/>
                        </a:rPr>
                        <a:t>Of</a:t>
                      </a:r>
                      <a:r>
                        <a:rPr sz="2000" b="1" spc="-5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spc="-10" dirty="0">
                          <a:latin typeface="Arial" panose="020B0604020202020204"/>
                          <a:cs typeface="Arial" panose="020B0604020202020204"/>
                        </a:rPr>
                        <a:t>Contents</a:t>
                      </a:r>
                      <a:endParaRPr sz="20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1" dirty="0">
                          <a:latin typeface="Arial" panose="020B0604020202020204"/>
                          <a:cs typeface="Arial" panose="020B0604020202020204"/>
                        </a:rPr>
                        <a:t>Page</a:t>
                      </a:r>
                      <a:r>
                        <a:rPr sz="2000" b="1" spc="-6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spc="-25" dirty="0">
                          <a:latin typeface="Arial" panose="020B0604020202020204"/>
                          <a:cs typeface="Arial" panose="020B0604020202020204"/>
                        </a:rPr>
                        <a:t>No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8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Title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Type</a:t>
                      </a:r>
                      <a:r>
                        <a:rPr sz="18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Project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Existing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Solutions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Motivation</a:t>
                      </a:r>
                      <a:r>
                        <a:rPr sz="180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Gap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IN" sz="1800" spc="-50" dirty="0">
                          <a:latin typeface="Arial MT"/>
                          <a:cs typeface="Arial MT"/>
                        </a:rPr>
                        <a:t>7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Requirements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IN" sz="1800" spc="-50" dirty="0">
                          <a:latin typeface="Arial MT"/>
                          <a:cs typeface="Arial MT"/>
                        </a:rPr>
                        <a:t>8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Objectives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6329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IN" sz="1800" spc="-25" dirty="0">
                          <a:latin typeface="Arial MT"/>
                          <a:cs typeface="Arial MT"/>
                        </a:rPr>
                        <a:t>              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IN" sz="1800" spc="-25" dirty="0"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Expected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Outcomes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50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IN" sz="1800" spc="-25" dirty="0">
                          <a:latin typeface="Arial MT"/>
                          <a:cs typeface="Arial MT"/>
                        </a:rPr>
                        <a:t>              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IN" sz="1800" spc="-25" dirty="0">
                          <a:latin typeface="Arial MT"/>
                          <a:cs typeface="Arial MT"/>
                        </a:rPr>
                        <a:t>2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SDG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Number,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Global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Challenges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Its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Justification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50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IN" sz="1800" spc="-25" dirty="0">
                          <a:latin typeface="Arial MT"/>
                          <a:cs typeface="Arial MT"/>
                        </a:rPr>
                        <a:t>              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IN" sz="1800" spc="-25" dirty="0">
                          <a:latin typeface="Arial MT"/>
                          <a:cs typeface="Arial MT"/>
                        </a:rPr>
                        <a:t>3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Domain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Mapping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Pos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/PSOs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Justification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50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IN" sz="1800" spc="-25" dirty="0">
                          <a:latin typeface="Arial MT"/>
                          <a:cs typeface="Arial MT"/>
                        </a:rPr>
                        <a:t>              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IN" sz="1800" spc="-25" dirty="0">
                          <a:latin typeface="Arial MT"/>
                          <a:cs typeface="Arial MT"/>
                        </a:rPr>
                        <a:t>4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R="52768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IN" sz="1800" spc="-25" dirty="0">
                          <a:latin typeface="Arial MT"/>
                          <a:cs typeface="Arial MT"/>
                        </a:rPr>
                        <a:t>        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10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Conclusion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50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IN" sz="1800" spc="-25" dirty="0">
                          <a:latin typeface="Arial MT"/>
                          <a:cs typeface="Arial MT"/>
                        </a:rPr>
                        <a:t>              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IN" sz="1800" spc="-25" dirty="0">
                          <a:latin typeface="Arial MT"/>
                          <a:cs typeface="Arial MT"/>
                        </a:rPr>
                        <a:t>5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marR="52768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IN" sz="1800" spc="-25" dirty="0">
                          <a:latin typeface="Arial MT"/>
                          <a:cs typeface="Arial MT"/>
                        </a:rPr>
                        <a:t>        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11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References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50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IN" sz="1800" spc="-25" dirty="0">
                          <a:latin typeface="Arial MT"/>
                          <a:cs typeface="Arial MT"/>
                        </a:rPr>
                        <a:t>              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IN" sz="1800" spc="-25" dirty="0">
                          <a:latin typeface="Arial MT"/>
                          <a:cs typeface="Arial MT"/>
                        </a:rPr>
                        <a:t>6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019" rIns="0" bIns="0" rtlCol="0">
            <a:spAutoFit/>
          </a:bodyPr>
          <a:lstStyle/>
          <a:p>
            <a:pPr marL="2929890">
              <a:lnSpc>
                <a:spcPct val="100000"/>
              </a:lnSpc>
              <a:spcBef>
                <a:spcPts val="105"/>
              </a:spcBef>
            </a:pPr>
            <a:r>
              <a:rPr lang="en-GB" sz="3200" dirty="0" smtClean="0">
                <a:solidFill>
                  <a:srgbClr val="FCFCFC"/>
                </a:solidFill>
              </a:rPr>
              <a:t>1.</a:t>
            </a:r>
            <a:r>
              <a:rPr sz="3200" dirty="0" smtClean="0">
                <a:solidFill>
                  <a:srgbClr val="FCFCFC"/>
                </a:solidFill>
              </a:rPr>
              <a:t>Project</a:t>
            </a:r>
            <a:r>
              <a:rPr sz="3200" spc="-70" dirty="0" smtClean="0">
                <a:solidFill>
                  <a:srgbClr val="FCFCFC"/>
                </a:solidFill>
              </a:rPr>
              <a:t> </a:t>
            </a:r>
            <a:r>
              <a:rPr sz="3200" dirty="0">
                <a:solidFill>
                  <a:srgbClr val="FCFCFC"/>
                </a:solidFill>
              </a:rPr>
              <a:t>Title</a:t>
            </a:r>
            <a:r>
              <a:rPr sz="3200" spc="-65" dirty="0">
                <a:solidFill>
                  <a:srgbClr val="FCFCFC"/>
                </a:solidFill>
              </a:rPr>
              <a:t> </a:t>
            </a:r>
            <a:r>
              <a:rPr sz="3200" dirty="0">
                <a:solidFill>
                  <a:srgbClr val="FCFCFC"/>
                </a:solidFill>
              </a:rPr>
              <a:t>and</a:t>
            </a:r>
            <a:r>
              <a:rPr sz="3200" spc="-70" dirty="0">
                <a:solidFill>
                  <a:srgbClr val="FCFCFC"/>
                </a:solidFill>
              </a:rPr>
              <a:t> </a:t>
            </a:r>
            <a:r>
              <a:rPr sz="3200" spc="-20" dirty="0">
                <a:solidFill>
                  <a:srgbClr val="FCFCFC"/>
                </a:solidFill>
              </a:rPr>
              <a:t>Type</a:t>
            </a:r>
            <a:r>
              <a:rPr sz="3200" spc="-65" dirty="0">
                <a:solidFill>
                  <a:srgbClr val="FCFCFC"/>
                </a:solidFill>
              </a:rPr>
              <a:t> </a:t>
            </a:r>
            <a:r>
              <a:rPr sz="3200" dirty="0">
                <a:solidFill>
                  <a:srgbClr val="FCFCFC"/>
                </a:solidFill>
              </a:rPr>
              <a:t>of</a:t>
            </a:r>
            <a:r>
              <a:rPr sz="3200" spc="-70" dirty="0">
                <a:solidFill>
                  <a:srgbClr val="FCFCFC"/>
                </a:solidFill>
              </a:rPr>
              <a:t> </a:t>
            </a:r>
            <a:r>
              <a:rPr sz="3200" spc="-10" dirty="0">
                <a:solidFill>
                  <a:srgbClr val="FCFCFC"/>
                </a:solidFill>
              </a:rPr>
              <a:t>Project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1245869" y="1583816"/>
            <a:ext cx="9775825" cy="3485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50000"/>
              </a:lnSpc>
              <a:spcBef>
                <a:spcPts val="100"/>
              </a:spcBef>
            </a:pPr>
            <a:r>
              <a:rPr sz="3200" dirty="0">
                <a:latin typeface="Arial MT"/>
                <a:cs typeface="Arial MT"/>
              </a:rPr>
              <a:t>A Real-Time Air Quality and Carbon Emission Monitoring System for Smart Campus Using IoT</a:t>
            </a:r>
            <a:endParaRPr lang="en-US" sz="3200" dirty="0">
              <a:latin typeface="Arial MT"/>
              <a:cs typeface="Arial MT"/>
            </a:endParaRPr>
          </a:p>
          <a:p>
            <a:pPr marL="12700" marR="5080" algn="ctr">
              <a:lnSpc>
                <a:spcPct val="150000"/>
              </a:lnSpc>
              <a:spcBef>
                <a:spcPts val="100"/>
              </a:spcBef>
            </a:pPr>
            <a:endParaRPr lang="en-IN" sz="2400" dirty="0">
              <a:latin typeface="Arial MT"/>
              <a:cs typeface="Arial MT"/>
            </a:endParaRPr>
          </a:p>
          <a:p>
            <a:pPr marL="12700" marR="5080" algn="ctr">
              <a:lnSpc>
                <a:spcPct val="150000"/>
              </a:lnSpc>
              <a:spcBef>
                <a:spcPts val="100"/>
              </a:spcBef>
            </a:pP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3200" b="1" spc="-20" dirty="0">
                <a:latin typeface="Arial" panose="020B0604020202020204"/>
                <a:cs typeface="Arial" panose="020B0604020202020204"/>
              </a:rPr>
              <a:t>Type</a:t>
            </a:r>
            <a:r>
              <a:rPr sz="32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Of</a:t>
            </a:r>
            <a:r>
              <a:rPr sz="32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Project</a:t>
            </a:r>
            <a:r>
              <a:rPr sz="32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:</a:t>
            </a:r>
            <a:r>
              <a:rPr sz="32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200" dirty="0">
                <a:latin typeface="Arial MT"/>
                <a:cs typeface="Arial MT"/>
              </a:rPr>
              <a:t>Product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/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Hardware (IoT)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203" y="76200"/>
            <a:ext cx="118173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tabLst>
                <a:tab pos="6008688" algn="l"/>
              </a:tabLst>
            </a:pPr>
            <a:r>
              <a:rPr lang="en-IN" altLang="en-US" sz="3200" b="1" dirty="0">
                <a:solidFill>
                  <a:srgbClr val="FDFDFD"/>
                </a:solidFill>
                <a:latin typeface="Arial" panose="020B0604020202020204" pitchFamily="34" charset="0"/>
                <a:ea typeface="Montserrat Classic"/>
                <a:cs typeface="Arial" panose="020B0604020202020204" pitchFamily="34" charset="0"/>
                <a:sym typeface="Montserrat Classic"/>
              </a:rPr>
              <a:t>Literature Survey</a:t>
            </a:r>
            <a:endParaRPr lang="en-IN" altLang="en-US" sz="3200" b="1" dirty="0">
              <a:solidFill>
                <a:srgbClr val="FDFDFD"/>
              </a:solidFill>
              <a:latin typeface="Arial" panose="020B0604020202020204" pitchFamily="34" charset="0"/>
              <a:ea typeface="Montserrat Classic"/>
              <a:cs typeface="Arial" panose="020B0604020202020204" pitchFamily="34" charset="0"/>
            </a:endParaRPr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016057"/>
              </p:ext>
            </p:extLst>
          </p:nvPr>
        </p:nvGraphicFramePr>
        <p:xfrm>
          <a:off x="267970" y="892810"/>
          <a:ext cx="11637010" cy="4862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005"/>
                <a:gridCol w="2435860"/>
                <a:gridCol w="1513205"/>
                <a:gridCol w="2905760"/>
                <a:gridCol w="3980180"/>
              </a:tblGrid>
              <a:tr h="5156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S-No</a:t>
                      </a: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Author &amp; Year of Publication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Journal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Title of the     paper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Advantages &amp;</a:t>
                      </a: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59010" marR="59010" marT="4926" marB="0" anchor="ctr"/>
                </a:tc>
              </a:tr>
              <a:tr h="2026285"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Farrag et al</a:t>
                      </a: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. &amp; 2025</a:t>
                      </a:r>
                      <a:endParaRPr lang="en-IN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IEEE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IVEMPS: IoT-Based Vehicle Emission Monitoring and Prediction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itchFamily="2" charset="2"/>
                        <a:buChar char="v"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Real-time vehicle emission monitoring and prediction using IoT and cloud analytics</a:t>
                      </a: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</a:p>
                    <a:p>
                      <a:pPr marL="0" indent="0" algn="just">
                        <a:buFont typeface="Wingdings" pitchFamily="2" charset="2"/>
                        <a:buNone/>
                      </a:pPr>
                      <a:endParaRPr lang="en-IN" sz="1600" dirty="0" smtClean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285750" indent="-285750" algn="just">
                        <a:buFont typeface="Wingdings" pitchFamily="2" charset="2"/>
                        <a:buChar char="v"/>
                      </a:pP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Limitation: Focuses mainly on vehicles, not campus-wide AQI.</a:t>
                      </a:r>
                    </a:p>
                  </a:txBody>
                  <a:tcPr anchor="ctr"/>
                </a:tc>
              </a:tr>
              <a:tr h="2320925"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Rosa-Bilbao et al</a:t>
                      </a: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  <a:r>
                        <a:rPr lang="en-IN" sz="1600" baseline="0" dirty="0" smtClean="0">
                          <a:latin typeface="Arial" pitchFamily="34" charset="0"/>
                          <a:cs typeface="Arial" pitchFamily="34" charset="0"/>
                        </a:rPr>
                        <a:t> &amp; </a:t>
                      </a: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2025</a:t>
                      </a:r>
                      <a:endParaRPr lang="en-US" altLang="en-US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IEEE Internet of Things Journal</a:t>
                      </a:r>
                      <a:endParaRPr lang="en-US" altLang="en-US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indent="0" algn="just" fontAlgn="auto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IoT-Based Indoor Air Quality Management System for </a:t>
                      </a: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Intelligent Education </a:t>
                      </a: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Environments</a:t>
                      </a:r>
                      <a:endParaRPr lang="en-US" altLang="en-US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itchFamily="2" charset="2"/>
                        <a:buChar char="v"/>
                      </a:pP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Combines </a:t>
                      </a:r>
                      <a:r>
                        <a:rPr lang="en-IN" sz="1600" dirty="0" err="1" smtClean="0">
                          <a:latin typeface="Arial" pitchFamily="34" charset="0"/>
                          <a:cs typeface="Arial" pitchFamily="34" charset="0"/>
                        </a:rPr>
                        <a:t>IoT</a:t>
                      </a: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 sensing, complex event processing and ML/DL to predict CO2, PM2.5 and TVOC levels in classrooms. </a:t>
                      </a:r>
                    </a:p>
                    <a:p>
                      <a:pPr marL="285750" indent="-28575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itchFamily="2" charset="2"/>
                        <a:buChar char="v"/>
                      </a:pP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Limitation: Focused on indoor classrooms, no outdoor carbon-emission tracking.</a:t>
                      </a:r>
                      <a:endParaRPr lang="en-US" altLang="en-US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/>
        </p:nvSpPr>
        <p:spPr>
          <a:xfrm>
            <a:off x="11221719" y="6590665"/>
            <a:ext cx="2184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200" b="0" i="0">
                <a:solidFill>
                  <a:schemeClr val="bg1"/>
                </a:solidFill>
                <a:latin typeface="Calibri" panose="020F0502020204030204"/>
                <a:ea typeface="+mn-ea"/>
                <a:cs typeface="Calibri" panose="020F0502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4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537516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509144"/>
              </p:ext>
            </p:extLst>
          </p:nvPr>
        </p:nvGraphicFramePr>
        <p:xfrm>
          <a:off x="247650" y="990600"/>
          <a:ext cx="11639550" cy="4639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005"/>
                <a:gridCol w="2416175"/>
                <a:gridCol w="1534160"/>
                <a:gridCol w="2809240"/>
                <a:gridCol w="4077970"/>
              </a:tblGrid>
              <a:tr h="5581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S-No</a:t>
                      </a: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Author &amp; Year of Publication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Journal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Title of the     paper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Advantages &amp;</a:t>
                      </a: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59010" marR="59010" marT="4926" marB="0" anchor="ctr"/>
                </a:tc>
              </a:tr>
              <a:tr h="1978660">
                <a:tc>
                  <a:txBody>
                    <a:bodyPr/>
                    <a:lstStyle/>
                    <a:p>
                      <a:pPr marL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>
                          <a:latin typeface="Arial" pitchFamily="34" charset="0"/>
                          <a:cs typeface="Arial" pitchFamily="34" charset="0"/>
                        </a:rPr>
                        <a:t>Li et al. </a:t>
                      </a:r>
                      <a:r>
                        <a:rPr lang="en-IN" sz="1600" b="0" dirty="0" smtClean="0">
                          <a:latin typeface="Arial" pitchFamily="34" charset="0"/>
                          <a:cs typeface="Arial" pitchFamily="34" charset="0"/>
                        </a:rPr>
                        <a:t>&amp;</a:t>
                      </a:r>
                      <a:r>
                        <a:rPr lang="en-IN" sz="1600" b="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IN" sz="1600" b="0" dirty="0" smtClean="0">
                          <a:latin typeface="Arial" pitchFamily="34" charset="0"/>
                          <a:cs typeface="Arial" pitchFamily="34" charset="0"/>
                        </a:rPr>
                        <a:t>2025 </a:t>
                      </a:r>
                      <a:endParaRPr lang="en-IN" sz="16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 smtClean="0">
                          <a:latin typeface="Arial" pitchFamily="34" charset="0"/>
                          <a:cs typeface="Arial" pitchFamily="34" charset="0"/>
                        </a:rPr>
                        <a:t>2025   </a:t>
                      </a:r>
                      <a:r>
                        <a:rPr lang="en-IN" sz="1600" b="0" dirty="0">
                          <a:latin typeface="Arial" pitchFamily="34" charset="0"/>
                          <a:cs typeface="Arial" pitchFamily="34" charset="0"/>
                        </a:rPr>
                        <a:t>IEEE Access</a:t>
                      </a:r>
                      <a:endParaRPr lang="en-US" altLang="en-US" sz="1600" b="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45720" marR="0" lvl="0" indent="0" algn="just" defTabSz="91440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1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A Survey of Smart Campus Resource Information Management in Internet of Things</a:t>
                      </a:r>
                      <a:endParaRPr lang="en-US" altLang="en-US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itchFamily="2" charset="2"/>
                        <a:buChar char="v"/>
                      </a:pPr>
                      <a:endParaRPr lang="en-IN" sz="1600" dirty="0" smtClean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285750" indent="-285750" algn="just">
                        <a:buFont typeface="Wingdings" pitchFamily="2" charset="2"/>
                        <a:buChar char="v"/>
                      </a:pP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Efficiently </a:t>
                      </a: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manages smart campus resources using IoT-based monitoring and automation.</a:t>
                      </a:r>
                    </a:p>
                    <a:p>
                      <a:pPr marL="285750" indent="-285750" algn="just">
                        <a:buFont typeface="Wingdings" pitchFamily="2" charset="2"/>
                        <a:buChar char="v"/>
                      </a:pPr>
                      <a:endParaRPr lang="en-IN" sz="1600" b="0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285750" indent="-285750" algn="just">
                        <a:buFont typeface="Wingdings" pitchFamily="2" charset="2"/>
                        <a:buChar char="v"/>
                      </a:pPr>
                      <a:r>
                        <a:rPr lang="en-IN" sz="1600" b="0" dirty="0">
                          <a:latin typeface="Arial" pitchFamily="34" charset="0"/>
                          <a:cs typeface="Arial" pitchFamily="34" charset="0"/>
                        </a:rPr>
                        <a:t>Limitation: </a:t>
                      </a: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Does not provide real-time carbon emission monitoring or carbon footprint analysis.</a:t>
                      </a:r>
                    </a:p>
                  </a:txBody>
                  <a:tcPr marL="0" marR="0" marT="76200" marB="76200" anchor="ctr"/>
                </a:tc>
              </a:tr>
              <a:tr h="1978660">
                <a:tc>
                  <a:txBody>
                    <a:bodyPr/>
                    <a:lstStyle/>
                    <a:p>
                      <a:pPr marL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Mowla et al. </a:t>
                      </a: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&amp;</a:t>
                      </a:r>
                      <a:r>
                        <a:rPr lang="en-IN" sz="16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2023</a:t>
                      </a:r>
                      <a:endParaRPr lang="en-US" altLang="en-US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IEEE Access</a:t>
                      </a:r>
                      <a:endParaRPr lang="en-US" altLang="en-US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Internet </a:t>
                      </a: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of Things and Wireless Sensor </a:t>
                      </a: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Networks </a:t>
                      </a: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for Smart Agriculture Applications: A Survey</a:t>
                      </a:r>
                      <a:endParaRPr lang="en-US" altLang="en-US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itchFamily="2" charset="2"/>
                        <a:buChar char="v"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Broad survey of energy-efficient IoT/WSN sensing architectures applicable to distributed environmental nodes. 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itchFamily="2" charset="2"/>
                        <a:buChar char="v"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Limitation: Survey-level; not specific to campus air-quality deployment.</a:t>
                      </a:r>
                      <a:endParaRPr lang="en-US" altLang="en-US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1015" y="178435"/>
            <a:ext cx="30181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altLang="en-US" sz="2800" b="1" dirty="0">
                <a:solidFill>
                  <a:srgbClr val="FDFDFD"/>
                </a:solidFill>
                <a:latin typeface="Arial" panose="020B0604020202020204" pitchFamily="34" charset="0"/>
                <a:ea typeface="Montserrat Classic"/>
                <a:cs typeface="Arial" panose="020B0604020202020204" pitchFamily="34" charset="0"/>
                <a:sym typeface="Montserrat Classic"/>
              </a:rPr>
              <a:t>Cont.</a:t>
            </a:r>
          </a:p>
        </p:txBody>
      </p:sp>
      <p:sp>
        <p:nvSpPr>
          <p:cNvPr id="2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5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46497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013600"/>
              </p:ext>
            </p:extLst>
          </p:nvPr>
        </p:nvGraphicFramePr>
        <p:xfrm>
          <a:off x="152400" y="990600"/>
          <a:ext cx="11887200" cy="4667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857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2286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142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92666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937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S-No</a:t>
                      </a: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Author &amp; Year of Publication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Journal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Title of the     paper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Advantages &amp;</a:t>
                      </a: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59010" marR="59010" marT="4926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94865">
                <a:tc>
                  <a:txBody>
                    <a:bodyPr/>
                    <a:lstStyle/>
                    <a:p>
                      <a:pPr marL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Martinez et al. </a:t>
                      </a: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&amp;</a:t>
                      </a:r>
                      <a:r>
                        <a:rPr lang="en-IN" sz="16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2026</a:t>
                      </a:r>
                      <a:endParaRPr lang="en-US" altLang="en-US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Indoor Air</a:t>
                      </a:r>
                    </a:p>
                    <a:p>
                      <a:pPr mar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(IEEE Indexed)</a:t>
                      </a:r>
                      <a:endParaRPr lang="en-US" altLang="en-US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IoT-Based Real-Time Monitoring Ecosystem on Smart Campus</a:t>
                      </a:r>
                      <a:endParaRPr lang="en-US" altLang="en-US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itchFamily="2" charset="2"/>
                        <a:buChar char="v"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Smart campus deployment with CO₂-based ventilation control. 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itchFamily="2" charset="2"/>
                        <a:buChar char="v"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Limitation: Limited focus on carbon-footprint estimation.</a:t>
                      </a:r>
                      <a:endParaRPr lang="en-US" altLang="en-US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78660"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 err="1" smtClean="0">
                          <a:latin typeface="Arial" pitchFamily="34" charset="0"/>
                          <a:cs typeface="Arial" pitchFamily="34" charset="0"/>
                        </a:rPr>
                        <a:t>Ke</a:t>
                      </a:r>
                      <a:r>
                        <a:rPr lang="en-IN" sz="16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IN" sz="1600" dirty="0" err="1" smtClean="0">
                          <a:latin typeface="Arial" pitchFamily="34" charset="0"/>
                          <a:cs typeface="Arial" pitchFamily="34" charset="0"/>
                        </a:rPr>
                        <a:t>Gu</a:t>
                      </a: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et al. </a:t>
                      </a: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&amp; 2025</a:t>
                      </a:r>
                      <a:endParaRPr lang="en-US" altLang="en-US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IEEE Trans. Multimedia</a:t>
                      </a:r>
                      <a:endParaRPr lang="en-US" altLang="en-US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indent="0" algn="just" fontAlgn="auto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14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Air Pollution Monitoring by Integrating Local and Global Information in Self-Adaptive Multiscale Transform Domain</a:t>
                      </a:r>
                      <a:endParaRPr lang="en-US" altLang="en-US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itchFamily="2" charset="2"/>
                        <a:buChar char="v"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Fuses local and global cues in a multiscale transform domain for more accurate air-pollution monitoring. 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itchFamily="2" charset="2"/>
                        <a:buChar char="v"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Limitation: only Monitor air quality and air pollution.</a:t>
                      </a:r>
                      <a:endParaRPr lang="en-US" altLang="en-US" sz="16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 txBox="1">
            <a:spLocks noGrp="1"/>
          </p:cNvSpPr>
          <p:nvPr>
            <p:ph type="sldNum" sz="quarter" idx="12"/>
          </p:nvPr>
        </p:nvSpPr>
        <p:spPr>
          <a:xfrm>
            <a:off x="11094720" y="6463665"/>
            <a:ext cx="167640" cy="158750"/>
          </a:xfrm>
        </p:spPr>
        <p:txBody>
          <a:bodyPr vert="horz" wrap="square" lIns="0" tIns="0" rIns="0" bIns="0" rtlCol="0">
            <a:spAutoFit/>
          </a:bodyPr>
          <a:lstStyle/>
          <a:p>
            <a:pPr marL="12700" lvl="0" algn="l">
              <a:lnSpc>
                <a:spcPts val="1240"/>
              </a:lnSpc>
              <a:buClrTx/>
              <a:buSzTx/>
              <a:buFontTx/>
            </a:pPr>
            <a:r>
              <a:rPr lang="en-IN" spc="-25" dirty="0">
                <a:sym typeface="+mn-ea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1015" y="178435"/>
            <a:ext cx="30181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altLang="en-US" sz="2800" b="1" dirty="0">
                <a:solidFill>
                  <a:srgbClr val="FDFDFD"/>
                </a:solidFill>
                <a:latin typeface="Arial" panose="020B0604020202020204" pitchFamily="34" charset="0"/>
                <a:ea typeface="Montserrat Classic"/>
                <a:cs typeface="Arial" panose="020B0604020202020204" pitchFamily="34" charset="0"/>
                <a:sym typeface="Montserrat Classic"/>
              </a:rPr>
              <a:t>Cont.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BB00E13-905F-FB0B-1460-92C36EB5B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719DA0D0-C2E9-2589-F21A-640B51397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262225"/>
              </p:ext>
            </p:extLst>
          </p:nvPr>
        </p:nvGraphicFramePr>
        <p:xfrm>
          <a:off x="152400" y="892810"/>
          <a:ext cx="11963400" cy="4514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937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S-No</a:t>
                      </a: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Author &amp; Year of Publication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Journal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Title of the     paper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Advantages &amp;</a:t>
                      </a: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59010" marR="59010" marT="4926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42465"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Zhang et al. </a:t>
                      </a: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&amp; 2025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IEEE Sensors Journal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Real-Time Monitoring Ozone by an Intelligent Sensor Terminal With Low Cost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itchFamily="2" charset="2"/>
                        <a:buChar char="v"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Low-cost intelligent sensor terminal delivers accurate real-time gas readings with remote alerting. </a:t>
                      </a:r>
                    </a:p>
                    <a:p>
                      <a:pPr marL="285750" indent="-28575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itchFamily="2" charset="2"/>
                        <a:buChar char="v"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Limitation: Single-gas (ozone) focused only.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78660"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S. Zhang et </a:t>
                      </a:r>
                      <a:r>
                        <a:rPr lang="en-IN" sz="1600" dirty="0" smtClean="0">
                          <a:latin typeface="Arial" pitchFamily="34" charset="0"/>
                          <a:cs typeface="Arial" pitchFamily="34" charset="0"/>
                        </a:rPr>
                        <a:t>al. &amp; 2024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IEEE Trans. Instrum. Meas.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indent="0" algn="just" fontAlgn="auto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Lightweight and Accurate Identification Model for Precursor Chemicals Based on Semiconductor Gas Sensor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itchFamily="2" charset="2"/>
                        <a:buChar char="v"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Lightweight gas-identification model runs accurately on low-power semiconductor sensor hardware. </a:t>
                      </a:r>
                    </a:p>
                    <a:p>
                      <a:pPr marL="285750" indent="-28575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itchFamily="2" charset="2"/>
                        <a:buChar char="v"/>
                      </a:pPr>
                      <a:r>
                        <a:rPr lang="en-IN" sz="1600" dirty="0">
                          <a:latin typeface="Arial" pitchFamily="34" charset="0"/>
                          <a:cs typeface="Arial" pitchFamily="34" charset="0"/>
                        </a:rPr>
                        <a:t>Limitation: Targets specific precursor-chemical gases, not full AQI suite.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9E20730-5FDE-BC68-3FF8-2961156842E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1094720" y="6463665"/>
            <a:ext cx="167640" cy="158750"/>
          </a:xfrm>
        </p:spPr>
        <p:txBody>
          <a:bodyPr vert="horz" wrap="square" lIns="0" tIns="0" rIns="0" bIns="0" rtlCol="0">
            <a:spAutoFit/>
          </a:bodyPr>
          <a:lstStyle/>
          <a:p>
            <a:pPr marL="12700" lvl="0" algn="l">
              <a:lnSpc>
                <a:spcPts val="1240"/>
              </a:lnSpc>
              <a:buClrTx/>
              <a:buSzTx/>
              <a:buFontTx/>
            </a:pPr>
            <a:r>
              <a:rPr lang="en-IN" spc="-25" dirty="0">
                <a:sym typeface="+mn-ea"/>
              </a:rPr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26EF733-1698-1508-C2F0-34F40EC1093F}"/>
              </a:ext>
            </a:extLst>
          </p:cNvPr>
          <p:cNvSpPr txBox="1"/>
          <p:nvPr/>
        </p:nvSpPr>
        <p:spPr>
          <a:xfrm>
            <a:off x="501015" y="178435"/>
            <a:ext cx="30181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altLang="en-US" sz="2800" b="1" dirty="0">
                <a:solidFill>
                  <a:srgbClr val="FDFDFD"/>
                </a:solidFill>
                <a:latin typeface="Arial" panose="020B0604020202020204" pitchFamily="34" charset="0"/>
                <a:ea typeface="Montserrat Classic"/>
                <a:cs typeface="Arial" panose="020B0604020202020204" pitchFamily="34" charset="0"/>
                <a:sym typeface="Montserrat Classic"/>
              </a:rPr>
              <a:t>Cont.</a:t>
            </a:r>
          </a:p>
        </p:txBody>
      </p:sp>
    </p:spTree>
    <p:extLst>
      <p:ext uri="{BB962C8B-B14F-4D97-AF65-F5344CB8AC3E}">
        <p14:creationId xmlns:p14="http://schemas.microsoft.com/office/powerpoint/2010/main" val="263930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6263791-4878-6FD4-A8CE-1D13B1087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2840EED0-F376-D90B-392E-F5E936197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238843"/>
              </p:ext>
            </p:extLst>
          </p:nvPr>
        </p:nvGraphicFramePr>
        <p:xfrm>
          <a:off x="152400" y="892810"/>
          <a:ext cx="11963400" cy="4591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937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S-No</a:t>
                      </a: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Author &amp; Year of Publication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Journal 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Title of the     paper</a:t>
                      </a:r>
                      <a:endParaRPr lang="en-US" sz="1300" dirty="0">
                        <a:solidFill>
                          <a:srgbClr val="FFFF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</a:endParaRPr>
                    </a:p>
                  </a:txBody>
                  <a:tcPr marL="59010" marR="59010" marT="4926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Advantages &amp;</a:t>
                      </a:r>
                      <a:r>
                        <a:rPr lang="en-US" sz="13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59010" marR="59010" marT="4926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18665"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anose="020B0604020202020204" pitchFamily="34" charset="0"/>
                        </a:rPr>
                        <a:t>Acharyya et al. </a:t>
                      </a:r>
                      <a:r>
                        <a:rPr lang="en-IN" sz="1600" dirty="0" smtClean="0">
                          <a:latin typeface="Arial" panose="020B0604020202020204" pitchFamily="34" charset="0"/>
                        </a:rPr>
                        <a:t>&amp;</a:t>
                      </a:r>
                      <a:r>
                        <a:rPr lang="en-IN" sz="1600" baseline="0" dirty="0" smtClean="0"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N" sz="1600" dirty="0" smtClean="0">
                          <a:latin typeface="Arial" panose="020B0604020202020204" pitchFamily="34" charset="0"/>
                        </a:rPr>
                        <a:t>2024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IEEE Internet of Things Journal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anose="020B0604020202020204" pitchFamily="34" charset="0"/>
                        </a:rPr>
                        <a:t>Smart and Selective Gas Sensor System Empowered With Machine Learning Over IoT Platform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itchFamily="2" charset="2"/>
                        <a:buChar char="v"/>
                      </a:pPr>
                      <a:r>
                        <a:rPr lang="en-IN" sz="1600" dirty="0">
                          <a:latin typeface="Arial" panose="020B0604020202020204" pitchFamily="34" charset="0"/>
                        </a:rPr>
                        <a:t>Machine-learning-driven gas sensor system over an IoT platform improves gas selectivity and accuracy. </a:t>
                      </a:r>
                    </a:p>
                    <a:p>
                      <a:pPr marL="285750" indent="-28575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itchFamily="2" charset="2"/>
                        <a:buChar char="v"/>
                      </a:pPr>
                      <a:r>
                        <a:rPr lang="en-IN" sz="1600" dirty="0">
                          <a:latin typeface="Arial" panose="020B0604020202020204" pitchFamily="34" charset="0"/>
                        </a:rPr>
                        <a:t>Limitation: Does not calculate carbon emission.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78660">
                <a:tc>
                  <a:txBody>
                    <a:bodyPr/>
                    <a:lstStyle/>
                    <a:p>
                      <a:pPr marL="0" algn="ctr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US" altLang="en-US" sz="1600" b="0" i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 smtClean="0">
                          <a:latin typeface="Arial" panose="020B0604020202020204" pitchFamily="34" charset="0"/>
                        </a:rPr>
                        <a:t>Kai</a:t>
                      </a:r>
                      <a:r>
                        <a:rPr lang="en-IN" sz="1600" baseline="0" dirty="0" smtClean="0"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N" sz="1600" dirty="0" smtClean="0">
                          <a:latin typeface="Arial" panose="020B0604020202020204" pitchFamily="34" charset="0"/>
                        </a:rPr>
                        <a:t>Hu </a:t>
                      </a:r>
                      <a:r>
                        <a:rPr lang="en-IN" sz="1600" dirty="0">
                          <a:latin typeface="Arial" panose="020B0604020202020204" pitchFamily="34" charset="0"/>
                        </a:rPr>
                        <a:t>et al. </a:t>
                      </a:r>
                      <a:r>
                        <a:rPr lang="en-IN" sz="1600" dirty="0" smtClean="0">
                          <a:latin typeface="Arial" panose="020B0604020202020204" pitchFamily="34" charset="0"/>
                        </a:rPr>
                        <a:t>&amp; 2024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anose="020B0604020202020204" pitchFamily="34" charset="0"/>
                        </a:rPr>
                        <a:t>IEEE JSTARS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0" indent="0" algn="just" fontAlgn="auto">
                        <a:lnSpc>
                          <a:spcPct val="9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</a:pPr>
                      <a:r>
                        <a:rPr lang="en-IN" sz="1600" dirty="0">
                          <a:latin typeface="Arial" panose="020B0604020202020204" pitchFamily="34" charset="0"/>
                        </a:rPr>
                        <a:t>A Review of Anthropogenic Ground-Level Carbon Emissions Based on Satellite Data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itchFamily="2" charset="2"/>
                        <a:buChar char="v"/>
                      </a:pPr>
                      <a:r>
                        <a:rPr lang="en-IN" sz="1600" dirty="0">
                          <a:latin typeface="Arial" panose="020B0604020202020204" pitchFamily="34" charset="0"/>
                        </a:rPr>
                        <a:t>Reviews satellite-based ground-level carbon emission estimation, useful for large-scale carbon accounting. </a:t>
                      </a:r>
                    </a:p>
                    <a:p>
                      <a:pPr marL="285750" indent="-285750" algn="just">
                        <a:lnSpc>
                          <a:spcPct val="97000"/>
                        </a:lnSpc>
                        <a:spcAft>
                          <a:spcPts val="800"/>
                        </a:spcAft>
                        <a:buClrTx/>
                        <a:buSzTx/>
                        <a:buFont typeface="Wingdings" pitchFamily="2" charset="2"/>
                        <a:buChar char="v"/>
                      </a:pPr>
                      <a:r>
                        <a:rPr lang="en-IN" sz="1600" dirty="0">
                          <a:latin typeface="Arial" panose="020B0604020202020204" pitchFamily="34" charset="0"/>
                        </a:rPr>
                        <a:t>Limitation: Satellite-scale review, not building/campus-level granularity.</a:t>
                      </a:r>
                      <a:endParaRPr lang="en-US" altLang="en-US" sz="1600" b="0" i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76200" marB="7620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8563A0C-F9CD-2C7F-088A-E1ED1C5D6B98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1094720" y="6463665"/>
            <a:ext cx="167640" cy="158750"/>
          </a:xfrm>
        </p:spPr>
        <p:txBody>
          <a:bodyPr vert="horz" wrap="square" lIns="0" tIns="0" rIns="0" bIns="0" rtlCol="0">
            <a:spAutoFit/>
          </a:bodyPr>
          <a:lstStyle/>
          <a:p>
            <a:pPr marL="12700" lvl="0" algn="l">
              <a:lnSpc>
                <a:spcPts val="1240"/>
              </a:lnSpc>
              <a:buClrTx/>
              <a:buSzTx/>
              <a:buFontTx/>
            </a:pPr>
            <a:r>
              <a:rPr lang="en-IN" spc="-25" dirty="0">
                <a:sym typeface="+mn-ea"/>
              </a:rPr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B722C72-F2F8-EECB-2357-04453E351DD6}"/>
              </a:ext>
            </a:extLst>
          </p:cNvPr>
          <p:cNvSpPr txBox="1"/>
          <p:nvPr/>
        </p:nvSpPr>
        <p:spPr>
          <a:xfrm>
            <a:off x="501015" y="178435"/>
            <a:ext cx="30181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altLang="en-US" sz="2800" b="1" dirty="0">
                <a:solidFill>
                  <a:srgbClr val="FDFDFD"/>
                </a:solidFill>
                <a:latin typeface="Arial" panose="020B0604020202020204" pitchFamily="34" charset="0"/>
                <a:ea typeface="Montserrat Classic"/>
                <a:cs typeface="Arial" panose="020B0604020202020204" pitchFamily="34" charset="0"/>
                <a:sym typeface="Montserrat Classic"/>
              </a:rPr>
              <a:t>Cont.</a:t>
            </a:r>
          </a:p>
        </p:txBody>
      </p:sp>
    </p:spTree>
    <p:extLst>
      <p:ext uri="{BB962C8B-B14F-4D97-AF65-F5344CB8AC3E}">
        <p14:creationId xmlns:p14="http://schemas.microsoft.com/office/powerpoint/2010/main" val="368937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6971" y="152400"/>
            <a:ext cx="120345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24325">
              <a:lnSpc>
                <a:spcPct val="100000"/>
              </a:lnSpc>
              <a:spcBef>
                <a:spcPts val="95"/>
              </a:spcBef>
            </a:pPr>
            <a:r>
              <a:rPr lang="en-GB" dirty="0" smtClean="0"/>
              <a:t>4.</a:t>
            </a:r>
            <a:r>
              <a:rPr dirty="0" smtClean="0"/>
              <a:t>Motivation</a:t>
            </a:r>
            <a:r>
              <a:rPr spc="-95" dirty="0" smtClean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spc="-20" dirty="0"/>
              <a:t>Gaps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9709" y="926592"/>
            <a:ext cx="11781155" cy="47525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4620">
              <a:lnSpc>
                <a:spcPct val="15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lang="en-GB" sz="2000" b="1" dirty="0" smtClean="0"/>
              <a:t>   MOTIVATION</a:t>
            </a:r>
            <a:endParaRPr lang="en-GB" sz="2000" b="1" dirty="0">
              <a:latin typeface="Arial MT"/>
              <a:cs typeface="Arial MT"/>
            </a:endParaRPr>
          </a:p>
          <a:p>
            <a:pPr marL="298450" marR="134620" indent="-285750" algn="just">
              <a:lnSpc>
                <a:spcPct val="150000"/>
              </a:lnSpc>
              <a:spcBef>
                <a:spcPts val="100"/>
              </a:spcBef>
              <a:buFont typeface="Wingdings" pitchFamily="2" charset="2"/>
              <a:buChar char="v"/>
              <a:tabLst>
                <a:tab pos="469900" algn="l"/>
              </a:tabLst>
            </a:pPr>
            <a:r>
              <a:rPr sz="1800" dirty="0" smtClean="0">
                <a:latin typeface="Arial MT"/>
                <a:cs typeface="Arial MT"/>
              </a:rPr>
              <a:t>Most </a:t>
            </a:r>
            <a:r>
              <a:rPr sz="1800" dirty="0">
                <a:latin typeface="Arial MT"/>
                <a:cs typeface="Arial MT"/>
              </a:rPr>
              <a:t>existing campus monitoring systems track either air quality or carbon emissions in isolation, and rarely combine both for a complete picture of environmental health</a:t>
            </a:r>
            <a:r>
              <a:rPr sz="1800" dirty="0" smtClean="0">
                <a:latin typeface="Arial MT"/>
                <a:cs typeface="Arial MT"/>
              </a:rPr>
              <a:t>.</a:t>
            </a:r>
            <a:endParaRPr lang="en-GB" sz="1800" dirty="0" smtClean="0">
              <a:latin typeface="Arial MT"/>
              <a:cs typeface="Arial MT"/>
            </a:endParaRPr>
          </a:p>
          <a:p>
            <a:pPr marL="298450" marR="134620" indent="-285750" algn="just">
              <a:lnSpc>
                <a:spcPct val="150000"/>
              </a:lnSpc>
              <a:spcBef>
                <a:spcPts val="100"/>
              </a:spcBef>
              <a:buFont typeface="Wingdings" pitchFamily="2" charset="2"/>
              <a:buChar char="v"/>
              <a:tabLst>
                <a:tab pos="469900" algn="l"/>
              </a:tabLst>
            </a:pPr>
            <a:r>
              <a:rPr lang="en-GB" sz="1800" dirty="0" smtClean="0">
                <a:latin typeface="Arial MT"/>
                <a:cs typeface="Arial MT"/>
              </a:rPr>
              <a:t>Increasing awareness about environmental sustainability and the need to reduce carbon footprint in educational campuses motivates the development of a smart monitoring system.</a:t>
            </a:r>
          </a:p>
          <a:p>
            <a:pPr marL="298450" marR="134620" indent="-285750" algn="just">
              <a:lnSpc>
                <a:spcPct val="150000"/>
              </a:lnSpc>
              <a:spcBef>
                <a:spcPts val="100"/>
              </a:spcBef>
              <a:buFont typeface="Wingdings" pitchFamily="2" charset="2"/>
              <a:buChar char="v"/>
              <a:tabLst>
                <a:tab pos="469900" algn="l"/>
              </a:tabLst>
            </a:pPr>
            <a:endParaRPr lang="en-GB" sz="1800" dirty="0" smtClean="0">
              <a:latin typeface="Arial MT"/>
              <a:cs typeface="Arial MT"/>
            </a:endParaRPr>
          </a:p>
          <a:p>
            <a:pPr marL="12700" marR="134620" algn="just">
              <a:lnSpc>
                <a:spcPct val="15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lang="en-GB" sz="2000" b="1" dirty="0" smtClean="0">
                <a:latin typeface="Arial MT"/>
                <a:cs typeface="Arial MT"/>
              </a:rPr>
              <a:t>   GAPS</a:t>
            </a:r>
            <a:endParaRPr sz="2000" b="1" dirty="0">
              <a:latin typeface="Arial MT"/>
              <a:cs typeface="Arial MT"/>
            </a:endParaRPr>
          </a:p>
          <a:p>
            <a:pPr marL="298450" marR="134620" indent="-285750" algn="just">
              <a:lnSpc>
                <a:spcPct val="150000"/>
              </a:lnSpc>
              <a:spcBef>
                <a:spcPts val="100"/>
              </a:spcBef>
              <a:buFont typeface="Wingdings" pitchFamily="2" charset="2"/>
              <a:buChar char="v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Few low-cost prototypes provide real-time, location-tagged air quality and carbon data to campus administration, delaying corrective action such as ventilation or traffic control.</a:t>
            </a:r>
          </a:p>
          <a:p>
            <a:pPr marL="298450" marR="134620" indent="-285750" algn="just">
              <a:lnSpc>
                <a:spcPct val="150000"/>
              </a:lnSpc>
              <a:spcBef>
                <a:spcPts val="100"/>
              </a:spcBef>
              <a:buFont typeface="Wingdings" pitchFamily="2" charset="2"/>
              <a:buChar char="v"/>
              <a:tabLst>
                <a:tab pos="469900" algn="l"/>
              </a:tabLst>
            </a:pPr>
            <a:r>
              <a:rPr sz="1800" dirty="0" smtClean="0">
                <a:latin typeface="Arial MT"/>
                <a:cs typeface="Arial MT"/>
              </a:rPr>
              <a:t>Many </a:t>
            </a:r>
            <a:r>
              <a:rPr sz="1800" dirty="0">
                <a:latin typeface="Arial MT"/>
                <a:cs typeface="Arial MT"/>
              </a:rPr>
              <a:t>proposed systems depend heavily on continuous cloud or GSM connectivity, making them costly or unreliable for dense, multi-building campus deployments</a:t>
            </a:r>
            <a:r>
              <a:rPr sz="1800" dirty="0" smtClean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84315"/>
            <a:ext cx="12034520" cy="499611"/>
          </a:xfrm>
          <a:prstGeom prst="rect">
            <a:avLst/>
          </a:prstGeom>
        </p:spPr>
        <p:txBody>
          <a:bodyPr vert="horz" wrap="square" lIns="0" tIns="68059" rIns="0" bIns="0" rtlCol="0">
            <a:spAutoFit/>
          </a:bodyPr>
          <a:lstStyle/>
          <a:p>
            <a:pPr marL="4398645">
              <a:lnSpc>
                <a:spcPct val="100000"/>
              </a:lnSpc>
              <a:spcBef>
                <a:spcPts val="95"/>
              </a:spcBef>
            </a:pPr>
            <a:r>
              <a:rPr lang="en-GB" dirty="0" smtClean="0">
                <a:latin typeface="Calibri" panose="020F0502020204030204"/>
                <a:cs typeface="Calibri" panose="020F0502020204030204"/>
              </a:rPr>
              <a:t>5.</a:t>
            </a:r>
            <a:r>
              <a:rPr dirty="0" smtClean="0">
                <a:latin typeface="Calibri" panose="020F0502020204030204"/>
                <a:cs typeface="Calibri" panose="020F0502020204030204"/>
              </a:rPr>
              <a:t>Project</a:t>
            </a:r>
            <a:r>
              <a:rPr spc="-85" dirty="0" smtClean="0">
                <a:latin typeface="Calibri" panose="020F0502020204030204"/>
                <a:cs typeface="Calibri" panose="020F0502020204030204"/>
              </a:rPr>
              <a:t> </a:t>
            </a:r>
            <a:r>
              <a:rPr spc="-10" dirty="0">
                <a:latin typeface="Calibri" panose="020F0502020204030204"/>
                <a:cs typeface="Calibri" panose="020F0502020204030204"/>
              </a:rPr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8279" y="1080770"/>
            <a:ext cx="11730355" cy="459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Functional</a:t>
            </a:r>
            <a:r>
              <a:rPr sz="1800" b="1" spc="-8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Requirements</a:t>
            </a:r>
            <a:endParaRPr lang="en-US" sz="1800" b="1" spc="-10" dirty="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endParaRPr sz="1800" dirty="0">
              <a:latin typeface="Arial MT"/>
              <a:cs typeface="Arial" panose="020B0604020202020204"/>
            </a:endParaRP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itchFamily="34" charset="0"/>
              </a:rPr>
              <a:t>Air Quality Monitoring: </a:t>
            </a:r>
            <a:r>
              <a:rPr sz="1800" dirty="0">
                <a:latin typeface="Arial MT"/>
                <a:cs typeface="Arial" pitchFamily="34" charset="0"/>
              </a:rPr>
              <a:t>Use PM2.5/PM10, CO and NO2 sensors at key campus locations to continuously measure ambient air quality and flag unhealthy AQI levels within seconds</a:t>
            </a:r>
            <a:r>
              <a:rPr sz="1800" dirty="0" smtClean="0">
                <a:latin typeface="Arial MT"/>
                <a:cs typeface="Arial" pitchFamily="34" charset="0"/>
              </a:rPr>
              <a:t>.</a:t>
            </a:r>
            <a:endParaRPr sz="1800" dirty="0">
              <a:latin typeface="Arial MT"/>
              <a:cs typeface="Arial" pitchFamily="34" charset="0"/>
            </a:endParaRP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itchFamily="34" charset="0"/>
              </a:rPr>
              <a:t>Carbon Emission Tracking: </a:t>
            </a:r>
            <a:r>
              <a:rPr sz="1800" dirty="0">
                <a:latin typeface="Arial MT"/>
                <a:cs typeface="Arial" pitchFamily="34" charset="0"/>
              </a:rPr>
              <a:t>Use a CO2/MQ135 sensor at building entrances and labs to estimate carbon emission levels and log the campus carbon footprint over time.</a:t>
            </a: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itchFamily="34" charset="0"/>
              </a:rPr>
              <a:t>Location-Tagged Sensing: </a:t>
            </a:r>
            <a:r>
              <a:rPr sz="1800" dirty="0">
                <a:latin typeface="Arial MT"/>
                <a:cs typeface="Arial" pitchFamily="34" charset="0"/>
              </a:rPr>
              <a:t>Tag every sensor node with its campus zone (block, floor, or outdoor area) so every reading and alert maps to an exact location for quick response.</a:t>
            </a: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itchFamily="34" charset="0"/>
              </a:rPr>
              <a:t>Local and Remote Alerting: </a:t>
            </a:r>
            <a:r>
              <a:rPr sz="1800" dirty="0">
                <a:latin typeface="Arial MT"/>
                <a:cs typeface="Arial" pitchFamily="34" charset="0"/>
              </a:rPr>
              <a:t>Trigger an on-site indicator immediately when thresholds are exceeded and push a notification to an ESP32-connected dashboard for the campus facilities team.</a:t>
            </a:r>
            <a:endParaRPr lang="en-US" sz="1800" dirty="0">
              <a:latin typeface="Arial MT"/>
              <a:cs typeface="Arial" pitchFamily="34" charset="0"/>
            </a:endParaRPr>
          </a:p>
          <a:p>
            <a:pPr marL="12700" marR="5080" algn="just">
              <a:lnSpc>
                <a:spcPct val="150000"/>
              </a:lnSpc>
            </a:pPr>
            <a:r>
              <a:rPr lang="en-IN" b="1" dirty="0">
                <a:latin typeface="Arial MT"/>
                <a:cs typeface="Arial" pitchFamily="34" charset="0"/>
              </a:rPr>
              <a:t>Automatic Recovery:</a:t>
            </a:r>
            <a:r>
              <a:rPr lang="en-IN" dirty="0">
                <a:latin typeface="Arial MT"/>
                <a:cs typeface="Arial" pitchFamily="34" charset="0"/>
              </a:rPr>
              <a:t> Once the air quality returns to a safe level, the ESP32 turns OFF the fan automatically.</a:t>
            </a:r>
            <a:endParaRPr sz="1800" dirty="0">
              <a:latin typeface="Arial MT"/>
              <a:cs typeface="Arial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3124200" y="76200"/>
            <a:ext cx="5257800" cy="499611"/>
          </a:xfrm>
          <a:prstGeom prst="rect">
            <a:avLst/>
          </a:prstGeom>
        </p:spPr>
        <p:txBody>
          <a:bodyPr vert="horz" wrap="square" lIns="0" tIns="68059" rIns="0" bIns="0" rtlCol="0">
            <a:spAutoFit/>
          </a:bodyPr>
          <a:lstStyle/>
          <a:p>
            <a:pPr marL="3676650" algn="l">
              <a:lnSpc>
                <a:spcPct val="100000"/>
              </a:lnSpc>
              <a:spcBef>
                <a:spcPts val="95"/>
              </a:spcBef>
            </a:pPr>
            <a:r>
              <a:rPr lang="en-GB" spc="-10" dirty="0" smtClean="0">
                <a:latin typeface="Calibri" panose="020F0502020204030204"/>
                <a:cs typeface="Calibri" panose="020F0502020204030204"/>
              </a:rPr>
              <a:t>Cont.</a:t>
            </a:r>
            <a:endParaRPr spc="-1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8279" y="1080770"/>
            <a:ext cx="11730355" cy="48756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Non-</a:t>
            </a:r>
            <a:r>
              <a:rPr sz="18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Functional</a:t>
            </a:r>
            <a:r>
              <a:rPr sz="1800" b="1" spc="-4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Requirements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800" dirty="0">
              <a:latin typeface="Arial" panose="020B0604020202020204"/>
              <a:cs typeface="Arial" panose="020B0604020202020204"/>
            </a:endParaRP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Fast Response Time: </a:t>
            </a:r>
            <a:r>
              <a:rPr sz="1800" dirty="0">
                <a:latin typeface="Arial MT"/>
                <a:cs typeface="Arial MT"/>
              </a:rPr>
              <a:t>Detect a threshold breach in air quality or carbon levels and trigger a local indicator within 5 seconds of the reading crossing the limit.</a:t>
            </a: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Low Power Consumption: </a:t>
            </a:r>
            <a:r>
              <a:rPr sz="1800" dirty="0">
                <a:latin typeface="Arial MT"/>
                <a:cs typeface="Arial MT"/>
              </a:rPr>
              <a:t>Run the ESP32 and connected sensors on a battery/solar-backed supply so each node can operate continuously at outdoor and rooftop campus locations.</a:t>
            </a: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Reliable Operation: </a:t>
            </a:r>
            <a:r>
              <a:rPr sz="1800" dirty="0">
                <a:latin typeface="Arial MT"/>
                <a:cs typeface="Arial MT"/>
              </a:rPr>
              <a:t>Keep sensor readings stable across varying temperature, humidity, and dust conditions on campus with minimal false alerts.</a:t>
            </a: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Easy Maintenance: </a:t>
            </a:r>
            <a:r>
              <a:rPr sz="1800" dirty="0">
                <a:latin typeface="Arial MT"/>
                <a:cs typeface="Arial MT"/>
              </a:rPr>
              <a:t>Use a compact, weatherproof enclosure and modular wiring so sensors can be inspected, calibrated, or replaced quickly by campus staff.</a:t>
            </a:r>
            <a:endParaRPr lang="en-US" sz="1800" dirty="0">
              <a:latin typeface="Arial MT"/>
              <a:cs typeface="Arial MT"/>
            </a:endParaRPr>
          </a:p>
          <a:p>
            <a:pPr marL="12700" marR="5080" algn="just">
              <a:lnSpc>
                <a:spcPct val="150000"/>
              </a:lnSpc>
            </a:pPr>
            <a:r>
              <a:rPr lang="en-IN" b="1" dirty="0">
                <a:latin typeface="Arial MT"/>
              </a:rPr>
              <a:t>Automatic Ventilation Control:</a:t>
            </a:r>
            <a:r>
              <a:rPr lang="en-IN" dirty="0">
                <a:latin typeface="Arial MT"/>
              </a:rPr>
              <a:t> The ESP32 automatically activates the cooling/exhaust fan when the air quality exceeds the predefined threshold, helping to reduce smoke and improve air circulation.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84315"/>
            <a:ext cx="12034520" cy="499611"/>
          </a:xfrm>
          <a:prstGeom prst="rect">
            <a:avLst/>
          </a:prstGeom>
        </p:spPr>
        <p:txBody>
          <a:bodyPr vert="horz" wrap="square" lIns="0" tIns="68059" rIns="0" bIns="0" rtlCol="0">
            <a:spAutoFit/>
          </a:bodyPr>
          <a:lstStyle/>
          <a:p>
            <a:pPr marL="719138" indent="-271463">
              <a:lnSpc>
                <a:spcPct val="100000"/>
              </a:lnSpc>
              <a:spcBef>
                <a:spcPts val="95"/>
              </a:spcBef>
              <a:tabLst>
                <a:tab pos="447675" algn="l"/>
              </a:tabLst>
            </a:pPr>
            <a:r>
              <a:rPr lang="en-GB" dirty="0" smtClean="0">
                <a:latin typeface="Calibri" panose="020F0502020204030204"/>
                <a:cs typeface="Calibri" panose="020F0502020204030204"/>
              </a:rPr>
              <a:t>Cont.</a:t>
            </a:r>
            <a:endParaRPr spc="-1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8279" y="1080770"/>
            <a:ext cx="4343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Technical</a:t>
            </a:r>
            <a:r>
              <a:rPr sz="1800" b="1" spc="-6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800" b="1" spc="-1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Architectural</a:t>
            </a:r>
            <a:r>
              <a:rPr sz="1800" b="1" spc="-6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Requirements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0" y="1696720"/>
            <a:ext cx="11501755" cy="347531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Sensor Layer: </a:t>
            </a:r>
            <a:r>
              <a:rPr sz="1800" dirty="0">
                <a:latin typeface="Arial MT"/>
                <a:cs typeface="Arial MT"/>
              </a:rPr>
              <a:t>MQ135/MQ7 gas sensors, a PM2.5 dust sensor, and a CO2 sensor for carbon levels, all wired to a single ESP32 microcontroller with Wi-Fi.</a:t>
            </a: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Processing &amp; Logic: </a:t>
            </a:r>
            <a:r>
              <a:rPr sz="1800" dirty="0">
                <a:latin typeface="Arial MT"/>
                <a:cs typeface="Arial MT"/>
              </a:rPr>
              <a:t>ESP32 firmware reads sensor values at fixed intervals and compares them against calibrated AQI and carbon thresholds to classify air quality as good, moderate, or poor.</a:t>
            </a: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Alerting Layer: </a:t>
            </a:r>
            <a:r>
              <a:rPr sz="1800" dirty="0">
                <a:latin typeface="Arial MT"/>
                <a:cs typeface="Arial MT"/>
              </a:rPr>
              <a:t>An onboard LED/indicator activates immediately on-site, while the ESP32 pushes the AQI, CO2 level, and node location to a cloud dashboard over Wi-Fi.</a:t>
            </a: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Arial MT"/>
                <a:cs typeface="Arial" panose="020B0604020202020204"/>
              </a:rPr>
              <a:t>Monitoring Dashboard: </a:t>
            </a:r>
            <a:r>
              <a:rPr sz="1800" dirty="0">
                <a:latin typeface="Arial MT"/>
                <a:cs typeface="Arial MT"/>
              </a:rPr>
              <a:t>A simple web dashboard displays live sensor readings, air quality and carbon trend alerts, and node locations on a campus map for facilities staff.</a:t>
            </a: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84315"/>
            <a:ext cx="12034520" cy="501534"/>
          </a:xfrm>
          <a:prstGeom prst="rect">
            <a:avLst/>
          </a:prstGeom>
        </p:spPr>
        <p:txBody>
          <a:bodyPr vert="horz" wrap="square" lIns="0" tIns="69964" rIns="0" bIns="0" rtlCol="0">
            <a:spAutoFit/>
          </a:bodyPr>
          <a:lstStyle/>
          <a:p>
            <a:pPr marL="5094605">
              <a:lnSpc>
                <a:spcPct val="100000"/>
              </a:lnSpc>
              <a:spcBef>
                <a:spcPts val="95"/>
              </a:spcBef>
            </a:pPr>
            <a:r>
              <a:rPr lang="en-GB" spc="-10" dirty="0" smtClean="0"/>
              <a:t>6.</a:t>
            </a:r>
            <a:r>
              <a:rPr spc="-10" dirty="0" smtClean="0"/>
              <a:t>Objectives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04800" y="1447800"/>
            <a:ext cx="11656695" cy="25314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69900" algn="l"/>
              </a:tabLst>
            </a:pPr>
            <a:r>
              <a:rPr lang="en-US" dirty="0">
                <a:latin typeface="Arial MT"/>
                <a:cs typeface="Arial MT"/>
              </a:rPr>
              <a:t>To </a:t>
            </a:r>
            <a:r>
              <a:rPr sz="1800" dirty="0" smtClean="0">
                <a:latin typeface="Arial MT"/>
                <a:cs typeface="Arial MT"/>
              </a:rPr>
              <a:t>Continuously </a:t>
            </a:r>
            <a:r>
              <a:rPr sz="1800" dirty="0">
                <a:latin typeface="Arial MT"/>
                <a:cs typeface="Arial MT"/>
              </a:rPr>
              <a:t>track key air pollutants and carbon emission levels across the campus using low-cost IoT sensor nodes, before they impact health or comfort</a:t>
            </a:r>
            <a:r>
              <a:rPr sz="1800" dirty="0" smtClean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 marL="469900" marR="5080" indent="-457200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69900" algn="l"/>
              </a:tabLst>
            </a:pPr>
            <a:r>
              <a:rPr lang="en-US" sz="1800" dirty="0">
                <a:latin typeface="Arial MT"/>
                <a:cs typeface="Arial MT"/>
              </a:rPr>
              <a:t>To </a:t>
            </a:r>
            <a:r>
              <a:rPr sz="1800" dirty="0">
                <a:latin typeface="Arial MT"/>
                <a:cs typeface="Arial MT"/>
              </a:rPr>
              <a:t>Reduce manual environmental audits by automating monitoring with a low-cost, ESP32-based unit that runs continuously across multiple campus locations</a:t>
            </a:r>
            <a:r>
              <a:rPr sz="1800" dirty="0" smtClean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 marL="469900" marR="5080" indent="-457200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69900" algn="l"/>
              </a:tabLst>
            </a:pPr>
            <a:r>
              <a:rPr lang="en-US" sz="1800" dirty="0">
                <a:latin typeface="Arial MT"/>
                <a:cs typeface="Arial MT"/>
              </a:rPr>
              <a:t>To </a:t>
            </a:r>
            <a:r>
              <a:rPr sz="1800" dirty="0">
                <a:latin typeface="Arial MT"/>
                <a:cs typeface="Arial MT"/>
              </a:rPr>
              <a:t>Enable faster, data-driven campus response by sending instant, location-tagged alerts to facilities staff as soon as air quality or emission levels turn unsafe.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84315"/>
            <a:ext cx="12034520" cy="501534"/>
          </a:xfrm>
          <a:prstGeom prst="rect">
            <a:avLst/>
          </a:prstGeom>
        </p:spPr>
        <p:txBody>
          <a:bodyPr vert="horz" wrap="square" lIns="0" tIns="69964" rIns="0" bIns="0" rtlCol="0">
            <a:spAutoFit/>
          </a:bodyPr>
          <a:lstStyle/>
          <a:p>
            <a:pPr marL="4383405">
              <a:lnSpc>
                <a:spcPct val="100000"/>
              </a:lnSpc>
              <a:spcBef>
                <a:spcPts val="95"/>
              </a:spcBef>
            </a:pPr>
            <a:r>
              <a:rPr lang="en-GB" dirty="0" smtClean="0"/>
              <a:t>7.</a:t>
            </a:r>
            <a:r>
              <a:rPr dirty="0" smtClean="0"/>
              <a:t>Expected</a:t>
            </a:r>
            <a:r>
              <a:rPr spc="-110" dirty="0" smtClean="0"/>
              <a:t> </a:t>
            </a:r>
            <a:r>
              <a:rPr spc="-10" dirty="0"/>
              <a:t>Outcome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37500" y="999490"/>
            <a:ext cx="3887470" cy="47602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r>
              <a:rPr sz="1600" b="1" dirty="0">
                <a:latin typeface="Arial MT"/>
                <a:cs typeface="Calibri" panose="020F0502020204030204"/>
              </a:rPr>
              <a:t>Working Prototype – </a:t>
            </a:r>
            <a:r>
              <a:rPr sz="1600" dirty="0">
                <a:latin typeface="Arial MT"/>
                <a:cs typeface="Calibri" panose="020F0502020204030204"/>
              </a:rPr>
              <a:t>A functional ESP32-based unit that continuously measures air pollutant levels and carbon dioxide concentration at a campus location</a:t>
            </a:r>
            <a:r>
              <a:rPr sz="1600" dirty="0" smtClean="0">
                <a:latin typeface="Arial MT"/>
                <a:cs typeface="Calibri" panose="020F0502020204030204"/>
              </a:rPr>
              <a:t>.</a:t>
            </a:r>
            <a:endParaRPr sz="1600" dirty="0">
              <a:latin typeface="Arial MT"/>
              <a:cs typeface="Calibri" panose="020F0502020204030204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r>
              <a:rPr sz="1600" b="1" dirty="0">
                <a:latin typeface="Arial MT"/>
                <a:cs typeface="Calibri" panose="020F0502020204030204"/>
              </a:rPr>
              <a:t>Real-Time Alerts – </a:t>
            </a:r>
            <a:r>
              <a:rPr sz="1600" dirty="0">
                <a:latin typeface="Arial MT"/>
                <a:cs typeface="Calibri" panose="020F0502020204030204"/>
              </a:rPr>
              <a:t>Instant on-site indicator and a notification with the node's location sent to the campus dashboard the moment air quality or carbon levels turn unsafe</a:t>
            </a:r>
            <a:r>
              <a:rPr sz="1600" dirty="0" smtClean="0">
                <a:latin typeface="Arial MT"/>
                <a:cs typeface="Calibri" panose="020F0502020204030204"/>
              </a:rPr>
              <a:t>.</a:t>
            </a:r>
            <a:endParaRPr sz="1600" dirty="0">
              <a:latin typeface="Arial MT"/>
              <a:cs typeface="Calibri" panose="020F0502020204030204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r>
              <a:rPr sz="1600" b="1" dirty="0">
                <a:latin typeface="Arial MT"/>
                <a:cs typeface="Calibri" panose="020F0502020204030204"/>
              </a:rPr>
              <a:t>Reduced Manual Monitoring – </a:t>
            </a:r>
            <a:r>
              <a:rPr sz="1600" dirty="0">
                <a:latin typeface="Arial MT"/>
                <a:cs typeface="Calibri" panose="020F0502020204030204"/>
              </a:rPr>
              <a:t>Fewer routine manual air-quality surveys, since staff are notified only when readings cross unsafe thresholds.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r>
              <a:rPr sz="1600" b="1" dirty="0">
                <a:latin typeface="Arial MT"/>
                <a:cs typeface="Calibri" panose="020F0502020204030204"/>
              </a:rPr>
              <a:t>Healthier Campus Environment – </a:t>
            </a:r>
            <a:r>
              <a:rPr sz="1600" dirty="0">
                <a:latin typeface="Arial MT"/>
                <a:cs typeface="Calibri" panose="020F0502020204030204"/>
              </a:rPr>
              <a:t>Early warning of poor air quality and rising carbon emissions supports timely ventilation, traffic, and green-space decisions on campus.</a:t>
            </a: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14</a:t>
            </a:fld>
            <a:endParaRPr spc="-2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4296C3F-EC3B-BF2B-F1E9-3DD843815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81" y="997032"/>
            <a:ext cx="7729722" cy="51531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400" y="1334071"/>
            <a:ext cx="11729720" cy="41402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dirty="0">
                <a:latin typeface="Arial" panose="020B0604020202020204"/>
                <a:cs typeface="Arial" panose="020B0604020202020204"/>
              </a:rPr>
              <a:t>SDG</a:t>
            </a:r>
            <a:r>
              <a:rPr sz="18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Number: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L="5334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 MT"/>
                <a:cs typeface="Arial MT"/>
              </a:rPr>
              <a:t>SDG 13 – Climate Action</a:t>
            </a:r>
          </a:p>
          <a:p>
            <a:pPr>
              <a:lnSpc>
                <a:spcPct val="100000"/>
              </a:lnSpc>
            </a:pP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 panose="020B0604020202020204"/>
                <a:cs typeface="Arial" panose="020B0604020202020204"/>
              </a:rPr>
              <a:t>Global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Challenge</a:t>
            </a:r>
            <a:r>
              <a:rPr sz="18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latin typeface="Arial" panose="020B0604020202020204"/>
                <a:cs typeface="Arial" panose="020B0604020202020204"/>
              </a:rPr>
              <a:t>&amp;</a:t>
            </a:r>
            <a:r>
              <a:rPr sz="18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latin typeface="Arial" panose="020B0604020202020204"/>
                <a:cs typeface="Arial" panose="020B0604020202020204"/>
              </a:rPr>
              <a:t>Relevance:</a:t>
            </a:r>
            <a:endParaRPr sz="1800" dirty="0">
              <a:latin typeface="Arial" panose="020B0604020202020204"/>
              <a:cs typeface="Arial" panose="020B0604020202020204"/>
            </a:endParaRPr>
          </a:p>
          <a:p>
            <a:pPr marL="927100" marR="5080" indent="-457200">
              <a:lnSpc>
                <a:spcPct val="150000"/>
              </a:lnSpc>
              <a:buAutoNum type="arabicPeriod"/>
              <a:tabLst>
                <a:tab pos="927100" algn="l"/>
              </a:tabLst>
            </a:pPr>
            <a:r>
              <a:rPr sz="1800" dirty="0">
                <a:latin typeface="Arial MT"/>
                <a:cs typeface="Arial MT"/>
              </a:rPr>
              <a:t>Reducing Air Pollution and Emissions – Continuous monitoring helps the campus identify pollution hotspots and cut carbon emissions from vehicles, labs, and buildings.</a:t>
            </a:r>
          </a:p>
          <a:p>
            <a:pPr marL="927100" marR="5080" indent="-457200">
              <a:lnSpc>
                <a:spcPct val="150000"/>
              </a:lnSpc>
              <a:buAutoNum type="arabicPeriod"/>
              <a:tabLst>
                <a:tab pos="927100" algn="l"/>
              </a:tabLst>
            </a:pPr>
            <a:r>
              <a:rPr sz="1800" dirty="0">
                <a:latin typeface="Arial MT"/>
                <a:cs typeface="Arial MT"/>
              </a:rPr>
              <a:t>Improving Public Health and Well-being – Timely alerts let campus administration act before poor air quality affects students and staff, supporting SDG 11 (Sustainable Cities and Communities).</a:t>
            </a:r>
          </a:p>
          <a:p>
            <a:pPr marL="927100" marR="5080" indent="-457200">
              <a:lnSpc>
                <a:spcPct val="150000"/>
              </a:lnSpc>
              <a:buAutoNum type="arabicPeriod"/>
              <a:tabLst>
                <a:tab pos="927100" algn="l"/>
              </a:tabLst>
            </a:pPr>
            <a:r>
              <a:rPr sz="1800" dirty="0">
                <a:latin typeface="Arial MT"/>
                <a:cs typeface="Arial MT"/>
              </a:rPr>
              <a:t>Supporting Smart, Sustainable Campuses – A low-cost, IoT-based monitoring approach makes it practical for institutions to track and reduce their environmental footprint affordably.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739" y="84315"/>
            <a:ext cx="120345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60115">
              <a:lnSpc>
                <a:spcPct val="100000"/>
              </a:lnSpc>
              <a:spcBef>
                <a:spcPts val="95"/>
              </a:spcBef>
            </a:pPr>
            <a:r>
              <a:rPr lang="en-GB" dirty="0" smtClean="0">
                <a:latin typeface="Calibri" panose="020F0502020204030204"/>
                <a:cs typeface="Calibri" panose="020F0502020204030204"/>
              </a:rPr>
              <a:t>8.</a:t>
            </a:r>
            <a:r>
              <a:rPr dirty="0" smtClean="0">
                <a:latin typeface="Calibri" panose="020F0502020204030204"/>
                <a:cs typeface="Calibri" panose="020F0502020204030204"/>
              </a:rPr>
              <a:t>SDG</a:t>
            </a:r>
            <a:r>
              <a:rPr spc="-55" dirty="0" smtClean="0">
                <a:latin typeface="Calibri" panose="020F0502020204030204"/>
                <a:cs typeface="Calibri" panose="020F0502020204030204"/>
              </a:rPr>
              <a:t> </a:t>
            </a:r>
            <a:r>
              <a:rPr dirty="0">
                <a:latin typeface="Calibri" panose="020F0502020204030204"/>
                <a:cs typeface="Calibri" panose="020F0502020204030204"/>
              </a:rPr>
              <a:t>Number</a:t>
            </a:r>
            <a:r>
              <a:rPr spc="-55" dirty="0">
                <a:latin typeface="Calibri" panose="020F0502020204030204"/>
                <a:cs typeface="Calibri" panose="020F0502020204030204"/>
              </a:rPr>
              <a:t> </a:t>
            </a:r>
            <a:r>
              <a:rPr dirty="0">
                <a:latin typeface="Calibri" panose="020F0502020204030204"/>
                <a:cs typeface="Calibri" panose="020F0502020204030204"/>
              </a:rPr>
              <a:t>and</a:t>
            </a:r>
            <a:r>
              <a:rPr spc="-50" dirty="0">
                <a:latin typeface="Calibri" panose="020F0502020204030204"/>
                <a:cs typeface="Calibri" panose="020F0502020204030204"/>
              </a:rPr>
              <a:t> </a:t>
            </a:r>
            <a:r>
              <a:rPr dirty="0">
                <a:latin typeface="Calibri" panose="020F0502020204030204"/>
                <a:cs typeface="Calibri" panose="020F0502020204030204"/>
              </a:rPr>
              <a:t>Global</a:t>
            </a:r>
            <a:r>
              <a:rPr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pc="-10" dirty="0">
                <a:latin typeface="Calibri" panose="020F0502020204030204"/>
                <a:cs typeface="Calibri" panose="020F0502020204030204"/>
              </a:rPr>
              <a:t>Challenge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84315"/>
            <a:ext cx="12034520" cy="482683"/>
          </a:xfrm>
          <a:prstGeom prst="rect">
            <a:avLst/>
          </a:prstGeom>
        </p:spPr>
        <p:txBody>
          <a:bodyPr vert="horz" wrap="square" lIns="0" tIns="51295" rIns="0" bIns="0" rtlCol="0">
            <a:spAutoFit/>
          </a:bodyPr>
          <a:lstStyle/>
          <a:p>
            <a:pPr marL="1562100" indent="-488950">
              <a:lnSpc>
                <a:spcPct val="100000"/>
              </a:lnSpc>
              <a:spcBef>
                <a:spcPts val="95"/>
              </a:spcBef>
            </a:pPr>
            <a:r>
              <a:rPr lang="en-GB" dirty="0" smtClean="0"/>
              <a:t>9.</a:t>
            </a:r>
            <a:r>
              <a:rPr dirty="0" smtClean="0"/>
              <a:t>Project</a:t>
            </a:r>
            <a:r>
              <a:rPr spc="-55" dirty="0" smtClean="0"/>
              <a:t> </a:t>
            </a:r>
            <a:r>
              <a:rPr dirty="0"/>
              <a:t>Domain</a:t>
            </a:r>
            <a:r>
              <a:rPr spc="-50" dirty="0"/>
              <a:t> </a:t>
            </a:r>
            <a:r>
              <a:rPr dirty="0"/>
              <a:t>Mapping</a:t>
            </a:r>
            <a:r>
              <a:rPr spc="-5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POs</a:t>
            </a:r>
            <a:r>
              <a:rPr spc="-50" dirty="0"/>
              <a:t> </a:t>
            </a:r>
            <a:r>
              <a:rPr dirty="0"/>
              <a:t>/</a:t>
            </a:r>
            <a:r>
              <a:rPr spc="-45" dirty="0"/>
              <a:t> </a:t>
            </a:r>
            <a:r>
              <a:rPr dirty="0"/>
              <a:t>PSOs</a:t>
            </a:r>
            <a:r>
              <a:rPr spc="-5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10" dirty="0"/>
              <a:t>justification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9928" y="5443511"/>
            <a:ext cx="4848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HIGH: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3;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MEDIUM: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2;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LOW: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1;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NO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CONTRIBUTION: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–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16</a:t>
            </a:fld>
            <a:endParaRPr spc="-25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EF27ACA2-4DB1-75DD-530D-475BA0042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954178"/>
              </p:ext>
            </p:extLst>
          </p:nvPr>
        </p:nvGraphicFramePr>
        <p:xfrm>
          <a:off x="609600" y="1219200"/>
          <a:ext cx="10822941" cy="37820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1">
                  <a:extLst>
                    <a:ext uri="{9D8B030D-6E8A-4147-A177-3AD203B41FA5}">
                      <a16:colId xmlns:a16="http://schemas.microsoft.com/office/drawing/2014/main" xmlns="" val="4069318366"/>
                    </a:ext>
                  </a:extLst>
                </a:gridCol>
                <a:gridCol w="730535">
                  <a:extLst>
                    <a:ext uri="{9D8B030D-6E8A-4147-A177-3AD203B41FA5}">
                      <a16:colId xmlns:a16="http://schemas.microsoft.com/office/drawing/2014/main" xmlns="" val="2791704028"/>
                    </a:ext>
                  </a:extLst>
                </a:gridCol>
                <a:gridCol w="745681">
                  <a:extLst>
                    <a:ext uri="{9D8B030D-6E8A-4147-A177-3AD203B41FA5}">
                      <a16:colId xmlns:a16="http://schemas.microsoft.com/office/drawing/2014/main" xmlns="" val="1581322020"/>
                    </a:ext>
                  </a:extLst>
                </a:gridCol>
                <a:gridCol w="746299">
                  <a:extLst>
                    <a:ext uri="{9D8B030D-6E8A-4147-A177-3AD203B41FA5}">
                      <a16:colId xmlns:a16="http://schemas.microsoft.com/office/drawing/2014/main" xmlns="" val="1540093721"/>
                    </a:ext>
                  </a:extLst>
                </a:gridCol>
                <a:gridCol w="745680">
                  <a:extLst>
                    <a:ext uri="{9D8B030D-6E8A-4147-A177-3AD203B41FA5}">
                      <a16:colId xmlns:a16="http://schemas.microsoft.com/office/drawing/2014/main" xmlns="" val="2538710339"/>
                    </a:ext>
                  </a:extLst>
                </a:gridCol>
                <a:gridCol w="745681">
                  <a:extLst>
                    <a:ext uri="{9D8B030D-6E8A-4147-A177-3AD203B41FA5}">
                      <a16:colId xmlns:a16="http://schemas.microsoft.com/office/drawing/2014/main" xmlns="" val="1322152661"/>
                    </a:ext>
                  </a:extLst>
                </a:gridCol>
                <a:gridCol w="745681">
                  <a:extLst>
                    <a:ext uri="{9D8B030D-6E8A-4147-A177-3AD203B41FA5}">
                      <a16:colId xmlns:a16="http://schemas.microsoft.com/office/drawing/2014/main" xmlns="" val="733284878"/>
                    </a:ext>
                  </a:extLst>
                </a:gridCol>
                <a:gridCol w="745681">
                  <a:extLst>
                    <a:ext uri="{9D8B030D-6E8A-4147-A177-3AD203B41FA5}">
                      <a16:colId xmlns:a16="http://schemas.microsoft.com/office/drawing/2014/main" xmlns="" val="3091256963"/>
                    </a:ext>
                  </a:extLst>
                </a:gridCol>
                <a:gridCol w="745680">
                  <a:extLst>
                    <a:ext uri="{9D8B030D-6E8A-4147-A177-3AD203B41FA5}">
                      <a16:colId xmlns:a16="http://schemas.microsoft.com/office/drawing/2014/main" xmlns="" val="1054123309"/>
                    </a:ext>
                  </a:extLst>
                </a:gridCol>
                <a:gridCol w="746298">
                  <a:extLst>
                    <a:ext uri="{9D8B030D-6E8A-4147-A177-3AD203B41FA5}">
                      <a16:colId xmlns:a16="http://schemas.microsoft.com/office/drawing/2014/main" xmlns="" val="2445374920"/>
                    </a:ext>
                  </a:extLst>
                </a:gridCol>
                <a:gridCol w="745681">
                  <a:extLst>
                    <a:ext uri="{9D8B030D-6E8A-4147-A177-3AD203B41FA5}">
                      <a16:colId xmlns:a16="http://schemas.microsoft.com/office/drawing/2014/main" xmlns="" val="1398515534"/>
                    </a:ext>
                  </a:extLst>
                </a:gridCol>
                <a:gridCol w="745681">
                  <a:extLst>
                    <a:ext uri="{9D8B030D-6E8A-4147-A177-3AD203B41FA5}">
                      <a16:colId xmlns:a16="http://schemas.microsoft.com/office/drawing/2014/main" xmlns="" val="2678352009"/>
                    </a:ext>
                  </a:extLst>
                </a:gridCol>
                <a:gridCol w="745681">
                  <a:extLst>
                    <a:ext uri="{9D8B030D-6E8A-4147-A177-3AD203B41FA5}">
                      <a16:colId xmlns:a16="http://schemas.microsoft.com/office/drawing/2014/main" xmlns="" val="3724500190"/>
                    </a:ext>
                  </a:extLst>
                </a:gridCol>
                <a:gridCol w="745681">
                  <a:extLst>
                    <a:ext uri="{9D8B030D-6E8A-4147-A177-3AD203B41FA5}">
                      <a16:colId xmlns:a16="http://schemas.microsoft.com/office/drawing/2014/main" xmlns="" val="1951697601"/>
                    </a:ext>
                  </a:extLst>
                </a:gridCol>
              </a:tblGrid>
              <a:tr h="628615">
                <a:tc>
                  <a:txBody>
                    <a:bodyPr/>
                    <a:lstStyle/>
                    <a:p>
                      <a:pPr marL="154940" marR="68580" indent="-7937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lang="en-GB" sz="1500" spc="-1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sz="1500" spc="-1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Cou</a:t>
                      </a:r>
                      <a:r>
                        <a:rPr lang="en-US"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se</a:t>
                      </a:r>
                      <a:r>
                        <a:rPr lang="en-US" sz="15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500" spc="-1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   </a:t>
                      </a:r>
                      <a:r>
                        <a:rPr sz="1500" spc="-2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Code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49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PO4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PO5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PO6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PO7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PO8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PO9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PO10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PO11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PSO1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PSO2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2045033"/>
                  </a:ext>
                </a:extLst>
              </a:tr>
              <a:tr h="5061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lang="en-US" sz="1500" spc="-10" dirty="0">
                          <a:latin typeface="Arial MT"/>
                          <a:cs typeface="Arial MT"/>
                        </a:rPr>
                        <a:t>308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.1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-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20847728"/>
                  </a:ext>
                </a:extLst>
              </a:tr>
              <a:tr h="5061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lang="en-US" sz="1500" spc="-10" dirty="0">
                          <a:latin typeface="Arial MT"/>
                          <a:cs typeface="Arial MT"/>
                        </a:rPr>
                        <a:t>308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.2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-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94189417"/>
                  </a:ext>
                </a:extLst>
              </a:tr>
              <a:tr h="5061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lang="en-US" sz="1500" spc="-10" dirty="0">
                          <a:latin typeface="Arial MT"/>
                          <a:cs typeface="Arial MT"/>
                        </a:rPr>
                        <a:t>308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.3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69020535"/>
                  </a:ext>
                </a:extLst>
              </a:tr>
              <a:tr h="506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lang="en-US" sz="1500" spc="-10" dirty="0">
                          <a:latin typeface="Arial MT"/>
                          <a:cs typeface="Arial MT"/>
                        </a:rPr>
                        <a:t>308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.4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76756822"/>
                  </a:ext>
                </a:extLst>
              </a:tr>
              <a:tr h="5061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lang="en-US" sz="1500" spc="-10" dirty="0">
                          <a:latin typeface="Arial MT"/>
                          <a:cs typeface="Arial MT"/>
                        </a:rPr>
                        <a:t>308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.5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dirty="0">
                          <a:latin typeface="Arial MT"/>
                          <a:cs typeface="Arial MT"/>
                        </a:rPr>
                        <a:t>1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3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500" spc="-50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98577962"/>
                  </a:ext>
                </a:extLst>
              </a:tr>
              <a:tr h="622135"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lang="en-GB" sz="1500" b="1" spc="-20" dirty="0" smtClean="0">
                          <a:latin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1500" b="1" spc="-20" dirty="0" smtClean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sz="1500" b="1" spc="-20" dirty="0">
                          <a:latin typeface="Arial" panose="020B0604020202020204"/>
                          <a:cs typeface="Arial" panose="020B0604020202020204"/>
                        </a:rPr>
                        <a:t>308</a:t>
                      </a:r>
                      <a:endParaRPr sz="1500" dirty="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180340">
                        <a:lnSpc>
                          <a:spcPct val="100000"/>
                        </a:lnSpc>
                      </a:pPr>
                      <a:r>
                        <a:rPr lang="en-GB" sz="1500" b="1" spc="-20" dirty="0" smtClean="0">
                          <a:latin typeface="Arial" panose="020B0604020202020204"/>
                          <a:cs typeface="Arial" panose="020B0604020202020204"/>
                        </a:rPr>
                        <a:t>   </a:t>
                      </a:r>
                      <a:r>
                        <a:rPr sz="1500" b="1" spc="-20" dirty="0" smtClean="0">
                          <a:latin typeface="Arial" panose="020B0604020202020204"/>
                          <a:cs typeface="Arial" panose="020B0604020202020204"/>
                        </a:rPr>
                        <a:t>Avg</a:t>
                      </a:r>
                      <a:r>
                        <a:rPr sz="1500" b="1" spc="-20" dirty="0"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endParaRPr sz="15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500" spc="-25" dirty="0">
                          <a:latin typeface="Arial MT"/>
                          <a:cs typeface="Arial MT"/>
                        </a:rPr>
                        <a:t>2.0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500" spc="-25" dirty="0">
                          <a:latin typeface="Arial MT"/>
                          <a:cs typeface="Arial MT"/>
                        </a:rPr>
                        <a:t>2.</a:t>
                      </a:r>
                      <a:r>
                        <a:rPr lang="en-US" sz="1500" spc="-25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1.8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1.8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1.8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1.2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1.8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1.8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1.8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1.2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1.4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en-US" sz="1500" spc="-25" dirty="0">
                          <a:latin typeface="Arial MT"/>
                          <a:cs typeface="Arial MT"/>
                        </a:rPr>
                        <a:t>2.4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500" spc="-25" dirty="0">
                          <a:latin typeface="Arial MT"/>
                          <a:cs typeface="Arial MT"/>
                        </a:rPr>
                        <a:t>2.</a:t>
                      </a:r>
                      <a:r>
                        <a:rPr lang="en-US" sz="1500" spc="-25" dirty="0">
                          <a:latin typeface="Arial MT"/>
                          <a:cs typeface="Arial MT"/>
                        </a:rPr>
                        <a:t>2</a:t>
                      </a:r>
                      <a:endParaRPr sz="1500" dirty="0">
                        <a:latin typeface="Arial MT"/>
                        <a:cs typeface="Arial MT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3233526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866" y="152400"/>
            <a:ext cx="120345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73600" indent="-7938">
              <a:lnSpc>
                <a:spcPct val="100000"/>
              </a:lnSpc>
              <a:spcBef>
                <a:spcPts val="95"/>
              </a:spcBef>
            </a:pPr>
            <a:r>
              <a:rPr lang="en-GB" spc="-10" dirty="0" smtClean="0">
                <a:latin typeface="Calibri" panose="020F0502020204030204"/>
                <a:cs typeface="Calibri" panose="020F0502020204030204"/>
              </a:rPr>
              <a:t>10.</a:t>
            </a:r>
            <a:r>
              <a:rPr spc="-10" dirty="0" smtClean="0">
                <a:latin typeface="Calibri" panose="020F0502020204030204"/>
                <a:cs typeface="Calibri" panose="020F0502020204030204"/>
              </a:rPr>
              <a:t>Conclusion</a:t>
            </a:r>
            <a:endParaRPr spc="-1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67994" y="1350644"/>
            <a:ext cx="11477625" cy="45833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The Real-Time Air Quality and Carbon Emission Monitoring System offers a low-cost approach to tracking campus air pollutants and carbon levels using gas, particulate, and CO2 sensors on a single ESP32-based unit.</a:t>
            </a:r>
          </a:p>
          <a:p>
            <a:pPr marL="469265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It enables early detection of poor air quality and rising emissions before they affect student and staff health, allowing campus administration to act before conditions worsen.</a:t>
            </a:r>
          </a:p>
          <a:p>
            <a:pPr marL="469265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By combining air-quality and carbon sensing with location-tagged alerts, the system pinpoints exactly which campus zone needs attention, cutting down manual inspection time.</a:t>
            </a:r>
          </a:p>
          <a:p>
            <a:pPr marL="469265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The design supports a healthier campus environment by warning of unsafe air quality or carbon build-up before it impacts occupants of classrooms and labs.</a:t>
            </a:r>
          </a:p>
          <a:p>
            <a:pPr marL="469265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Overall, the system provides a practical, scalable step toward smarter campus sustainability, supporting cleaner air and lower carbon emissions in line with SDG 13 and SDG 11.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4952" y="724903"/>
            <a:ext cx="11542094" cy="5513689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GB" sz="1500" dirty="0" err="1" smtClean="0">
                <a:latin typeface="Arial MT"/>
                <a:cs typeface="Arial MT"/>
              </a:rPr>
              <a:t>Farrag</a:t>
            </a:r>
            <a:r>
              <a:rPr lang="en-GB" sz="1500" dirty="0" smtClean="0">
                <a:latin typeface="Arial MT"/>
                <a:cs typeface="Arial MT"/>
              </a:rPr>
              <a:t>, O. and Mansour, A. and Abed, B. and Abu </a:t>
            </a:r>
            <a:r>
              <a:rPr lang="en-GB" sz="1500" dirty="0" err="1" smtClean="0">
                <a:latin typeface="Arial MT"/>
                <a:cs typeface="Arial MT"/>
              </a:rPr>
              <a:t>Alhaj</a:t>
            </a:r>
            <a:r>
              <a:rPr lang="en-GB" sz="1500" dirty="0" smtClean="0">
                <a:latin typeface="Arial MT"/>
                <a:cs typeface="Arial MT"/>
              </a:rPr>
              <a:t>, A. and </a:t>
            </a:r>
            <a:r>
              <a:rPr lang="en-GB" sz="1500" dirty="0" err="1" smtClean="0">
                <a:latin typeface="Arial MT"/>
                <a:cs typeface="Arial MT"/>
              </a:rPr>
              <a:t>Landolsi</a:t>
            </a:r>
            <a:r>
              <a:rPr lang="en-GB" sz="1500" dirty="0" smtClean="0">
                <a:latin typeface="Arial MT"/>
                <a:cs typeface="Arial MT"/>
              </a:rPr>
              <a:t>, T. and Al-Ali, A.R. (2025) 'IVEMPS: </a:t>
            </a:r>
            <a:r>
              <a:rPr lang="en-GB" sz="1500" dirty="0" err="1" smtClean="0">
                <a:latin typeface="Arial MT"/>
                <a:cs typeface="Arial MT"/>
              </a:rPr>
              <a:t>IoT</a:t>
            </a:r>
            <a:r>
              <a:rPr lang="en-GB" sz="1500" dirty="0" smtClean="0">
                <a:latin typeface="Arial MT"/>
                <a:cs typeface="Arial MT"/>
              </a:rPr>
              <a:t>-Based Vehicle Emission Monitoring and Prediction System', IEEE Access, Vol.13, pp.95628-95646.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GB" sz="1500" dirty="0" smtClean="0">
                <a:latin typeface="Arial MT"/>
                <a:cs typeface="Arial MT"/>
              </a:rPr>
              <a:t>Rosa-Bilbao, J. and Butt, F.S. and </a:t>
            </a:r>
            <a:r>
              <a:rPr lang="en-GB" sz="1500" dirty="0" err="1" smtClean="0">
                <a:latin typeface="Arial MT"/>
                <a:cs typeface="Arial MT"/>
              </a:rPr>
              <a:t>Merkl</a:t>
            </a:r>
            <a:r>
              <a:rPr lang="en-GB" sz="1500" dirty="0" smtClean="0">
                <a:latin typeface="Arial MT"/>
                <a:cs typeface="Arial MT"/>
              </a:rPr>
              <a:t>, D. and Wagner, M.F. and Schafer, J. and </a:t>
            </a:r>
            <a:r>
              <a:rPr lang="en-GB" sz="1500" dirty="0" err="1" smtClean="0">
                <a:latin typeface="Arial MT"/>
                <a:cs typeface="Arial MT"/>
              </a:rPr>
              <a:t>Boubeta-Puig</a:t>
            </a:r>
            <a:r>
              <a:rPr lang="en-GB" sz="1500" dirty="0" smtClean="0">
                <a:latin typeface="Arial MT"/>
                <a:cs typeface="Arial MT"/>
              </a:rPr>
              <a:t>, J. (2025) '</a:t>
            </a:r>
            <a:r>
              <a:rPr lang="en-GB" sz="1500" dirty="0" err="1" smtClean="0">
                <a:latin typeface="Arial MT"/>
                <a:cs typeface="Arial MT"/>
              </a:rPr>
              <a:t>IoT</a:t>
            </a:r>
            <a:r>
              <a:rPr lang="en-GB" sz="1500" dirty="0" smtClean="0">
                <a:latin typeface="Arial MT"/>
                <a:cs typeface="Arial MT"/>
              </a:rPr>
              <a:t>-Based Indoor Air Quality Management System for Intelligent Education Environments', IEEE Internet of Things Journal, Vol.12, No.11, pp.18031-18041.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GB" sz="1500" dirty="0" err="1" smtClean="0">
                <a:latin typeface="Arial MT"/>
                <a:cs typeface="Arial MT"/>
              </a:rPr>
              <a:t>Shihao</a:t>
            </a:r>
            <a:r>
              <a:rPr lang="en-GB" sz="1500" dirty="0" smtClean="0">
                <a:latin typeface="Arial MT"/>
                <a:cs typeface="Arial MT"/>
              </a:rPr>
              <a:t>, L. and </a:t>
            </a:r>
            <a:r>
              <a:rPr lang="en-GB" sz="1500" dirty="0" err="1" smtClean="0">
                <a:latin typeface="Arial MT"/>
                <a:cs typeface="Arial MT"/>
              </a:rPr>
              <a:t>Dahnil</a:t>
            </a:r>
            <a:r>
              <a:rPr lang="en-GB" sz="1500" dirty="0" smtClean="0">
                <a:latin typeface="Arial MT"/>
                <a:cs typeface="Arial MT"/>
              </a:rPr>
              <a:t>, D.P. and </a:t>
            </a:r>
            <a:r>
              <a:rPr lang="en-GB" sz="1500" dirty="0" err="1" smtClean="0">
                <a:latin typeface="Arial MT"/>
                <a:cs typeface="Arial MT"/>
              </a:rPr>
              <a:t>Saad</a:t>
            </a:r>
            <a:r>
              <a:rPr lang="en-GB" sz="1500" dirty="0" smtClean="0">
                <a:latin typeface="Arial MT"/>
                <a:cs typeface="Arial MT"/>
              </a:rPr>
              <a:t>, S. (2025) 'A Survey of Smart Campus Resource Information Management in Internet of Things', IEEE Access, Vol.13, pp.66622-66645.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GB" sz="1500" dirty="0" err="1" smtClean="0">
                <a:latin typeface="Arial MT"/>
                <a:cs typeface="Arial MT"/>
              </a:rPr>
              <a:t>Mowla</a:t>
            </a:r>
            <a:r>
              <a:rPr lang="en-GB" sz="1500" dirty="0" smtClean="0">
                <a:latin typeface="Arial MT"/>
                <a:cs typeface="Arial MT"/>
              </a:rPr>
              <a:t>, M.N. and </a:t>
            </a:r>
            <a:r>
              <a:rPr lang="en-GB" sz="1500" dirty="0" err="1" smtClean="0">
                <a:latin typeface="Arial MT"/>
                <a:cs typeface="Arial MT"/>
              </a:rPr>
              <a:t>Mowla</a:t>
            </a:r>
            <a:r>
              <a:rPr lang="en-GB" sz="1500" dirty="0" smtClean="0">
                <a:latin typeface="Arial MT"/>
                <a:cs typeface="Arial MT"/>
              </a:rPr>
              <a:t>, N. and Shah, A.F.M.S. and </a:t>
            </a:r>
            <a:r>
              <a:rPr lang="en-GB" sz="1500" dirty="0" err="1" smtClean="0">
                <a:latin typeface="Arial MT"/>
                <a:cs typeface="Arial MT"/>
              </a:rPr>
              <a:t>Rabie</a:t>
            </a:r>
            <a:r>
              <a:rPr lang="en-GB" sz="1500" dirty="0" smtClean="0">
                <a:latin typeface="Arial MT"/>
                <a:cs typeface="Arial MT"/>
              </a:rPr>
              <a:t>, K.M. and </a:t>
            </a:r>
            <a:r>
              <a:rPr lang="en-GB" sz="1500" dirty="0" err="1" smtClean="0">
                <a:latin typeface="Arial MT"/>
                <a:cs typeface="Arial MT"/>
              </a:rPr>
              <a:t>Shongwe</a:t>
            </a:r>
            <a:r>
              <a:rPr lang="en-GB" sz="1500" dirty="0" smtClean="0">
                <a:latin typeface="Arial MT"/>
                <a:cs typeface="Arial MT"/>
              </a:rPr>
              <a:t>, T. (2023) 'Internet of Things and Wireless Sensor Networks for Smart Agriculture Applications: A Survey', IEEE Access, Vol.11, pp.145813-145852.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GB" sz="1500" dirty="0" smtClean="0">
                <a:latin typeface="Arial MT"/>
                <a:cs typeface="Arial MT"/>
              </a:rPr>
              <a:t>Martinez, I. and Cano, E. and Marco, A. and Fernandez, A. (2026) '</a:t>
            </a:r>
            <a:r>
              <a:rPr lang="en-GB" sz="1500" dirty="0" err="1" smtClean="0">
                <a:latin typeface="Arial MT"/>
                <a:cs typeface="Arial MT"/>
              </a:rPr>
              <a:t>IoT</a:t>
            </a:r>
            <a:r>
              <a:rPr lang="en-GB" sz="1500" dirty="0" smtClean="0">
                <a:latin typeface="Arial MT"/>
                <a:cs typeface="Arial MT"/>
              </a:rPr>
              <a:t>-Based Real-Time Monitoring Ecosystem on Smart Campus', Indoor Air (IEEE Indexed), Vol.2026, Article 9999782, 29 pp.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GB" sz="1500" dirty="0" err="1" smtClean="0">
                <a:latin typeface="Arial MT"/>
                <a:cs typeface="Arial MT"/>
              </a:rPr>
              <a:t>Gu</a:t>
            </a:r>
            <a:r>
              <a:rPr lang="en-GB" sz="1500" dirty="0" smtClean="0">
                <a:latin typeface="Arial MT"/>
                <a:cs typeface="Arial MT"/>
              </a:rPr>
              <a:t>, K. and Liu, Y. and Liu, H. and Liu, B. and </a:t>
            </a:r>
            <a:r>
              <a:rPr lang="en-GB" sz="1500" dirty="0" err="1" smtClean="0">
                <a:latin typeface="Arial MT"/>
                <a:cs typeface="Arial MT"/>
              </a:rPr>
              <a:t>Qiao</a:t>
            </a:r>
            <a:r>
              <a:rPr lang="en-GB" sz="1500" dirty="0" smtClean="0">
                <a:latin typeface="Arial MT"/>
                <a:cs typeface="Arial MT"/>
              </a:rPr>
              <a:t>, J. and Lin, W. and Zhang, W. (2025) 'Air Pollution Monitoring by Integrating Local and Global Information in Self-Adaptive </a:t>
            </a:r>
            <a:r>
              <a:rPr lang="en-GB" sz="1500" dirty="0" err="1" smtClean="0">
                <a:latin typeface="Arial MT"/>
                <a:cs typeface="Arial MT"/>
              </a:rPr>
              <a:t>Multiscale</a:t>
            </a:r>
            <a:r>
              <a:rPr lang="en-GB" sz="1500" dirty="0" smtClean="0">
                <a:latin typeface="Arial MT"/>
                <a:cs typeface="Arial MT"/>
              </a:rPr>
              <a:t> Transform Domain', IEEE Transactions on Multimedia, Vol.27, pp.3716-3728.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GB" sz="1500" dirty="0" smtClean="0">
                <a:latin typeface="Arial MT"/>
                <a:cs typeface="Arial MT"/>
              </a:rPr>
              <a:t>Zhang, Q. and Song, S. and </a:t>
            </a:r>
            <a:r>
              <a:rPr lang="en-GB" sz="1500" dirty="0" err="1" smtClean="0">
                <a:latin typeface="Arial MT"/>
                <a:cs typeface="Arial MT"/>
              </a:rPr>
              <a:t>Bai</a:t>
            </a:r>
            <a:r>
              <a:rPr lang="en-GB" sz="1500" dirty="0" smtClean="0">
                <a:latin typeface="Arial MT"/>
                <a:cs typeface="Arial MT"/>
              </a:rPr>
              <a:t>, M. and Wang, X. and Tang, L. (2025) 'Real-Time Monitoring Ozone by an Intelligent Sensor Terminal With Low Cost', IEEE Sensors Journal, Vol.25, No.2, pp.3230-3238.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GB" sz="1500" dirty="0" smtClean="0">
                <a:latin typeface="Arial MT"/>
                <a:cs typeface="Arial MT"/>
              </a:rPr>
              <a:t>Zhang, S. and </a:t>
            </a:r>
            <a:r>
              <a:rPr lang="en-GB" sz="1500" dirty="0" err="1" smtClean="0">
                <a:latin typeface="Arial MT"/>
                <a:cs typeface="Arial MT"/>
              </a:rPr>
              <a:t>Ji</a:t>
            </a:r>
            <a:r>
              <a:rPr lang="en-GB" sz="1500" dirty="0" smtClean="0">
                <a:latin typeface="Arial MT"/>
                <a:cs typeface="Arial MT"/>
              </a:rPr>
              <a:t>, H. and Zhang, W. and Yuan, Z. and </a:t>
            </a:r>
            <a:r>
              <a:rPr lang="en-GB" sz="1500" dirty="0" err="1" smtClean="0">
                <a:latin typeface="Arial MT"/>
                <a:cs typeface="Arial MT"/>
              </a:rPr>
              <a:t>Meng</a:t>
            </a:r>
            <a:r>
              <a:rPr lang="en-GB" sz="1500" dirty="0" smtClean="0">
                <a:latin typeface="Arial MT"/>
                <a:cs typeface="Arial MT"/>
              </a:rPr>
              <a:t>, F. (2024) 'Lightweight and Accurate Identification Model for Precursor Chemicals Based on Semiconductor Gas Sensor', IEEE Transactions on Instrumentation and Measurement, Vol.73, pp.1-11.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GB" sz="1500" dirty="0" err="1" smtClean="0">
                <a:latin typeface="Arial MT"/>
                <a:cs typeface="Arial MT"/>
              </a:rPr>
              <a:t>Acharyya</a:t>
            </a:r>
            <a:r>
              <a:rPr lang="en-GB" sz="1500" dirty="0" smtClean="0">
                <a:latin typeface="Arial MT"/>
                <a:cs typeface="Arial MT"/>
              </a:rPr>
              <a:t>, S. and </a:t>
            </a:r>
            <a:r>
              <a:rPr lang="en-GB" sz="1500" dirty="0" err="1" smtClean="0">
                <a:latin typeface="Arial MT"/>
                <a:cs typeface="Arial MT"/>
              </a:rPr>
              <a:t>Ghosh</a:t>
            </a:r>
            <a:r>
              <a:rPr lang="en-GB" sz="1500" dirty="0" smtClean="0">
                <a:latin typeface="Arial MT"/>
                <a:cs typeface="Arial MT"/>
              </a:rPr>
              <a:t>, A. and Nag, S. and </a:t>
            </a:r>
            <a:r>
              <a:rPr lang="en-GB" sz="1500" dirty="0" err="1" smtClean="0">
                <a:latin typeface="Arial MT"/>
                <a:cs typeface="Arial MT"/>
              </a:rPr>
              <a:t>Majumder</a:t>
            </a:r>
            <a:r>
              <a:rPr lang="en-GB" sz="1500" dirty="0" smtClean="0">
                <a:latin typeface="Arial MT"/>
                <a:cs typeface="Arial MT"/>
              </a:rPr>
              <a:t>, S.B. and </a:t>
            </a:r>
            <a:r>
              <a:rPr lang="en-GB" sz="1500" dirty="0" err="1" smtClean="0">
                <a:latin typeface="Arial MT"/>
                <a:cs typeface="Arial MT"/>
              </a:rPr>
              <a:t>Guha</a:t>
            </a:r>
            <a:r>
              <a:rPr lang="en-GB" sz="1500" dirty="0" smtClean="0">
                <a:latin typeface="Arial MT"/>
                <a:cs typeface="Arial MT"/>
              </a:rPr>
              <a:t>, P.K. (2024) 'Smart and Selective Gas Sensor System Empowered With Machine Learning Over </a:t>
            </a:r>
            <a:r>
              <a:rPr lang="en-GB" sz="1500" dirty="0" err="1" smtClean="0">
                <a:latin typeface="Arial MT"/>
                <a:cs typeface="Arial MT"/>
              </a:rPr>
              <a:t>IoT</a:t>
            </a:r>
            <a:r>
              <a:rPr lang="en-GB" sz="1500" dirty="0" smtClean="0">
                <a:latin typeface="Arial MT"/>
                <a:cs typeface="Arial MT"/>
              </a:rPr>
              <a:t> Platform', IEEE Internet of Things Journal, Vol.11, No.3, pp.4218-4226.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buSzPct val="97000"/>
              <a:buAutoNum type="arabicPeriod"/>
              <a:tabLst>
                <a:tab pos="355600" algn="l"/>
              </a:tabLst>
            </a:pPr>
            <a:r>
              <a:rPr lang="en-GB" sz="1500" dirty="0" smtClean="0">
                <a:latin typeface="Arial MT"/>
                <a:cs typeface="Arial MT"/>
              </a:rPr>
              <a:t>Hu, K. and Zhang, Q. and Gong, S. and Zhang, F. and </a:t>
            </a:r>
            <a:r>
              <a:rPr lang="en-GB" sz="1500" dirty="0" err="1" smtClean="0">
                <a:latin typeface="Arial MT"/>
                <a:cs typeface="Arial MT"/>
              </a:rPr>
              <a:t>Weng</a:t>
            </a:r>
            <a:r>
              <a:rPr lang="en-GB" sz="1500" dirty="0" smtClean="0">
                <a:latin typeface="Arial MT"/>
                <a:cs typeface="Arial MT"/>
              </a:rPr>
              <a:t>, L. and Jiang, S. and Xia, M. (2024) 'A Review of Anthropogenic Ground-Level Carbon Emissions Based on Satellite Data', IEEE JSTARS, Vol.17, pp.8339-8357.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739" y="152400"/>
            <a:ext cx="120345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61013" indent="-719138">
              <a:lnSpc>
                <a:spcPct val="100000"/>
              </a:lnSpc>
              <a:spcBef>
                <a:spcPts val="95"/>
              </a:spcBef>
            </a:pPr>
            <a:r>
              <a:rPr lang="en-GB" spc="-10" dirty="0" smtClean="0"/>
              <a:t>11.</a:t>
            </a:r>
            <a:r>
              <a:rPr spc="-10" dirty="0" smtClean="0"/>
              <a:t>References</a:t>
            </a: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761" y="-228600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2322</Words>
  <Application>Microsoft Office PowerPoint</Application>
  <PresentationFormat>Custom</PresentationFormat>
  <Paragraphs>345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Contents</vt:lpstr>
      <vt:lpstr>1.Project Title and Type of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4.Motivation and Gaps</vt:lpstr>
      <vt:lpstr>5.Project Requirements</vt:lpstr>
      <vt:lpstr>Cont.</vt:lpstr>
      <vt:lpstr>Cont.</vt:lpstr>
      <vt:lpstr>6.Objectives</vt:lpstr>
      <vt:lpstr>7.Expected Outcome</vt:lpstr>
      <vt:lpstr>8.SDG Number and Global Challenge</vt:lpstr>
      <vt:lpstr>9.Project Domain Mapping with POs / PSOs with justification</vt:lpstr>
      <vt:lpstr>10.Conclusion</vt:lpstr>
      <vt:lpstr>11.References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Batch Number: 1</dc:title>
  <dc:creator>Madhushree Kalyanasundram</dc:creator>
  <cp:lastModifiedBy>Welcome</cp:lastModifiedBy>
  <cp:revision>33</cp:revision>
  <dcterms:created xsi:type="dcterms:W3CDTF">2026-07-04T00:08:00Z</dcterms:created>
  <dcterms:modified xsi:type="dcterms:W3CDTF">2026-07-18T04:53:06Z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2025-12-10T05:30:00Z</vt:filetime>
  </property>
  <property fmtid="{D5CDD505-2E9C-101B-9397-08002B2CF9AE}" pid="4" name="Creator">
    <vt:lpwstr>WPS Presentation</vt:lpwstr>
  </property>
  <property fmtid="{D5CDD505-2E9C-101B-9397-08002B2CF9AE}" pid="5" name="LastSaved">
    <vt:filetime>2026-07-04T05:30:00Z</vt:filetime>
  </property>
  <property fmtid="{D5CDD505-2E9C-101B-9397-08002B2CF9AE}" pid="6" name="SourceModified">
    <vt:lpwstr>D:20251210182435+05'30'</vt:lpwstr>
  </property>
  <property fmtid="{D5CDD505-2E9C-101B-9397-08002B2CF9AE}" pid="7" name="KSOProductBuildVer">
    <vt:lpwstr>1033-12.1.0.26880</vt:lpwstr>
  </property>
  <property fmtid="{D5CDD505-2E9C-101B-9397-08002B2CF9AE}" pid="8" name="ICV">
    <vt:lpwstr>1CC8D5C8BF1C408FA2FE6993CB23F4ED_12</vt:lpwstr>
  </property>
</Properties>
</file>