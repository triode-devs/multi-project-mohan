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58" r:id="rId4"/>
    <p:sldId id="277" r:id="rId5"/>
    <p:sldId id="278" r:id="rId6"/>
    <p:sldId id="279" r:id="rId7"/>
    <p:sldId id="281" r:id="rId8"/>
    <p:sldId id="28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6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2A92A5-A163-471A-9104-236305EC5110}" v="1" dt="2026-07-21T03:36:57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2" y="2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en Yeager" userId="f8119b3fffea4b0d" providerId="LiveId" clId="{F5FA8F01-EB6F-49E6-B775-A3BBCF9954F5}"/>
    <pc:docChg chg="modSld">
      <pc:chgData name="Eren Yeager" userId="f8119b3fffea4b0d" providerId="LiveId" clId="{F5FA8F01-EB6F-49E6-B775-A3BBCF9954F5}" dt="2026-07-21T03:39:50.503" v="29" actId="122"/>
      <pc:docMkLst>
        <pc:docMk/>
      </pc:docMkLst>
      <pc:sldChg chg="modSp">
        <pc:chgData name="Eren Yeager" userId="f8119b3fffea4b0d" providerId="LiveId" clId="{F5FA8F01-EB6F-49E6-B775-A3BBCF9954F5}" dt="2026-07-21T03:36:57.657" v="17"/>
        <pc:sldMkLst>
          <pc:docMk/>
          <pc:sldMk cId="0" sldId="257"/>
        </pc:sldMkLst>
        <pc:graphicFrameChg chg="mod">
          <ac:chgData name="Eren Yeager" userId="f8119b3fffea4b0d" providerId="LiveId" clId="{F5FA8F01-EB6F-49E6-B775-A3BBCF9954F5}" dt="2026-07-21T03:36:57.657" v="17"/>
          <ac:graphicFrameMkLst>
            <pc:docMk/>
            <pc:sldMk cId="0" sldId="257"/>
            <ac:graphicFrameMk id="3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03:38:21.952" v="19" actId="20577"/>
        <pc:sldMkLst>
          <pc:docMk/>
          <pc:sldMk cId="0" sldId="258"/>
        </pc:sldMkLst>
        <pc:spChg chg="mod">
          <ac:chgData name="Eren Yeager" userId="f8119b3fffea4b0d" providerId="LiveId" clId="{F5FA8F01-EB6F-49E6-B775-A3BBCF9954F5}" dt="2026-07-21T03:38:21.952" v="19" actId="20577"/>
          <ac:spMkLst>
            <pc:docMk/>
            <pc:sldMk cId="0" sldId="258"/>
            <ac:spMk id="7" creationId="{7806D3CB-2420-9E33-9AB6-1D421179C4BA}"/>
          </ac:spMkLst>
        </pc:spChg>
      </pc:sldChg>
      <pc:sldChg chg="modSp mod">
        <pc:chgData name="Eren Yeager" userId="f8119b3fffea4b0d" providerId="LiveId" clId="{F5FA8F01-EB6F-49E6-B775-A3BBCF9954F5}" dt="2026-07-21T03:39:31.078" v="25" actId="122"/>
        <pc:sldMkLst>
          <pc:docMk/>
          <pc:sldMk cId="0" sldId="277"/>
        </pc:sldMkLst>
        <pc:graphicFrameChg chg="modGraphic">
          <ac:chgData name="Eren Yeager" userId="f8119b3fffea4b0d" providerId="LiveId" clId="{F5FA8F01-EB6F-49E6-B775-A3BBCF9954F5}" dt="2026-07-21T03:39:31.078" v="25" actId="122"/>
          <ac:graphicFrameMkLst>
            <pc:docMk/>
            <pc:sldMk cId="0" sldId="277"/>
            <ac:graphicFrameMk id="8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03:39:35.856" v="26" actId="122"/>
        <pc:sldMkLst>
          <pc:docMk/>
          <pc:sldMk cId="0" sldId="278"/>
        </pc:sldMkLst>
        <pc:graphicFrameChg chg="modGraphic">
          <ac:chgData name="Eren Yeager" userId="f8119b3fffea4b0d" providerId="LiveId" clId="{F5FA8F01-EB6F-49E6-B775-A3BBCF9954F5}" dt="2026-07-21T03:39:35.856" v="26" actId="122"/>
          <ac:graphicFrameMkLst>
            <pc:docMk/>
            <pc:sldMk cId="0" sldId="278"/>
            <ac:graphicFrameMk id="5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03:39:42.051" v="27" actId="122"/>
        <pc:sldMkLst>
          <pc:docMk/>
          <pc:sldMk cId="0" sldId="279"/>
        </pc:sldMkLst>
        <pc:graphicFrameChg chg="modGraphic">
          <ac:chgData name="Eren Yeager" userId="f8119b3fffea4b0d" providerId="LiveId" clId="{F5FA8F01-EB6F-49E6-B775-A3BBCF9954F5}" dt="2026-07-21T03:39:42.051" v="27" actId="122"/>
          <ac:graphicFrameMkLst>
            <pc:docMk/>
            <pc:sldMk cId="0" sldId="279"/>
            <ac:graphicFrameMk id="5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03:39:46.302" v="28" actId="122"/>
        <pc:sldMkLst>
          <pc:docMk/>
          <pc:sldMk cId="2639309743" sldId="281"/>
        </pc:sldMkLst>
        <pc:graphicFrameChg chg="modGraphic">
          <ac:chgData name="Eren Yeager" userId="f8119b3fffea4b0d" providerId="LiveId" clId="{F5FA8F01-EB6F-49E6-B775-A3BBCF9954F5}" dt="2026-07-21T03:39:46.302" v="28" actId="122"/>
          <ac:graphicFrameMkLst>
            <pc:docMk/>
            <pc:sldMk cId="2639309743" sldId="281"/>
            <ac:graphicFrameMk id="5" creationId="{719DA0D0-C2E9-2589-F21A-640B51397D48}"/>
          </ac:graphicFrameMkLst>
        </pc:graphicFrameChg>
      </pc:sldChg>
      <pc:sldChg chg="modSp mod">
        <pc:chgData name="Eren Yeager" userId="f8119b3fffea4b0d" providerId="LiveId" clId="{F5FA8F01-EB6F-49E6-B775-A3BBCF9954F5}" dt="2026-07-21T03:39:50.503" v="29" actId="122"/>
        <pc:sldMkLst>
          <pc:docMk/>
          <pc:sldMk cId="3689373586" sldId="282"/>
        </pc:sldMkLst>
        <pc:graphicFrameChg chg="modGraphic">
          <ac:chgData name="Eren Yeager" userId="f8119b3fffea4b0d" providerId="LiveId" clId="{F5FA8F01-EB6F-49E6-B775-A3BBCF9954F5}" dt="2026-07-21T03:39:50.503" v="29" actId="122"/>
          <ac:graphicFrameMkLst>
            <pc:docMk/>
            <pc:sldMk cId="3689373586" sldId="282"/>
            <ac:graphicFrameMk id="5" creationId="{2840EED0-F376-D90B-392E-F5E936197E91}"/>
          </ac:graphicFrameMkLst>
        </pc:graphicFrameChg>
      </pc:sldChg>
      <pc:sldChg chg="modSp mod">
        <pc:chgData name="Eren Yeager" userId="f8119b3fffea4b0d" providerId="LiveId" clId="{F5FA8F01-EB6F-49E6-B775-A3BBCF9954F5}" dt="2026-07-21T03:36:24.980" v="16" actId="20577"/>
        <pc:sldMkLst>
          <pc:docMk/>
          <pc:sldMk cId="0" sldId="283"/>
        </pc:sldMkLst>
        <pc:spChg chg="mod">
          <ac:chgData name="Eren Yeager" userId="f8119b3fffea4b0d" providerId="LiveId" clId="{F5FA8F01-EB6F-49E6-B775-A3BBCF9954F5}" dt="2026-07-21T03:36:24.980" v="16" actId="20577"/>
          <ac:spMkLst>
            <pc:docMk/>
            <pc:sldMk cId="0" sldId="283"/>
            <ac:spMk id="9" creationId="{00000000-0000-0000-0000-000000000000}"/>
          </ac:spMkLst>
        </pc:spChg>
        <pc:spChg chg="mod">
          <ac:chgData name="Eren Yeager" userId="f8119b3fffea4b0d" providerId="LiveId" clId="{F5FA8F01-EB6F-49E6-B775-A3BBCF9954F5}" dt="2026-07-21T03:36:06.666" v="10" actId="20577"/>
          <ac:spMkLst>
            <pc:docMk/>
            <pc:sldMk cId="0" sldId="283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6373F-CC8B-4520-9B24-7603C77F282D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B2745-EBB5-4707-A7D1-FBC54CBAD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9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B2745-EBB5-4707-A7D1-FBC54CBAD6F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52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B2745-EBB5-4707-A7D1-FBC54CBAD6F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65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84315"/>
            <a:ext cx="12034520" cy="557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994" y="1350644"/>
            <a:ext cx="11477625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4719" y="6463665"/>
            <a:ext cx="2184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607" y="0"/>
            <a:ext cx="12192000" cy="6858000"/>
            <a:chOff x="352050" y="-105688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352050" y="-105688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91948" y="4138876"/>
            <a:ext cx="2367089" cy="39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Team Members: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1948" y="4631741"/>
            <a:ext cx="2708452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Madhesh V</a:t>
            </a:r>
          </a:p>
          <a:p>
            <a:pPr marL="0" marR="0" lvl="0" indent="0" algn="just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Akash R</a:t>
            </a:r>
          </a:p>
          <a:p>
            <a:pPr marL="0" marR="0" lvl="0" indent="0" algn="just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Ranjith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kumar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 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0" y="4631741"/>
            <a:ext cx="2367089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621324205027 621324205002 621324205305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09800" y="6381277"/>
            <a:ext cx="1607058" cy="39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Review - 0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87930" y="2386304"/>
            <a:ext cx="2788926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Batch Number: 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51969" y="3123184"/>
            <a:ext cx="7527851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IoT Based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Multi-Hazard Forest Protection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65651" y="4155413"/>
            <a:ext cx="5779650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Supervisor:</a:t>
            </a:r>
          </a:p>
          <a:p>
            <a:pPr marL="0" marR="0" lvl="0" indent="0" algn="just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Mrs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 .A.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Mohanadevi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/ M.E.,(</a:t>
            </a:r>
            <a:r>
              <a:rPr lang="en-US" sz="24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Ph.D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  <a:p>
            <a:pPr marL="0" marR="0" lvl="0" indent="0" algn="just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Assistant Professor / 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95600" y="1524000"/>
            <a:ext cx="7653547" cy="553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459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Canva Sans Bold"/>
                <a:cs typeface="Times New Roman" pitchFamily="18" charset="0"/>
                <a:sym typeface="Canva Sans Bold"/>
              </a:rPr>
              <a:t>24IT504L - MINI PROJECT-I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E33C39-4C84-436C-8F13-17E9EE9733EB}"/>
              </a:ext>
            </a:extLst>
          </p:cNvPr>
          <p:cNvSpPr txBox="1"/>
          <p:nvPr/>
        </p:nvSpPr>
        <p:spPr>
          <a:xfrm>
            <a:off x="7772400" y="6399495"/>
            <a:ext cx="251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DATE:14.07.2026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82683"/>
          </a:xfrm>
          <a:prstGeom prst="rect">
            <a:avLst/>
          </a:prstGeom>
        </p:spPr>
        <p:txBody>
          <a:bodyPr vert="horz" wrap="square" lIns="0" tIns="51295" rIns="0" bIns="0" rtlCol="0">
            <a:spAutoFit/>
          </a:bodyPr>
          <a:lstStyle/>
          <a:p>
            <a:pPr marL="5225415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FCFCFC"/>
                </a:solidFill>
              </a:rPr>
              <a:t>Contents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13546"/>
              </p:ext>
            </p:extLst>
          </p:nvPr>
        </p:nvGraphicFramePr>
        <p:xfrm>
          <a:off x="609600" y="1106083"/>
          <a:ext cx="10561682" cy="5047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9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874">
                <a:tc>
                  <a:txBody>
                    <a:bodyPr/>
                    <a:lstStyle/>
                    <a:p>
                      <a:pPr marL="91440" algn="ctr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</a:pPr>
                      <a:r>
                        <a:rPr sz="1600" b="1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</a:pPr>
                      <a:r>
                        <a:rPr sz="1600" b="1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</a:t>
                      </a:r>
                      <a:r>
                        <a:rPr sz="1600" b="1" spc="-6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sz="1600" b="1" spc="-5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Contents</a:t>
                      </a:r>
                      <a:endParaRPr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</a:pPr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</a:t>
                      </a:r>
                      <a:r>
                        <a:rPr sz="1600" b="1" spc="-6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Project Title &amp; Type of Project</a:t>
                      </a: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3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2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600" dirty="0">
                          <a:latin typeface="Arial MT"/>
                          <a:cs typeface="Arial MT"/>
                        </a:rPr>
                        <a:t>Existing</a:t>
                      </a:r>
                      <a:r>
                        <a:rPr lang="en-IN"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IN" sz="1600" spc="-10" dirty="0">
                          <a:latin typeface="Arial MT"/>
                          <a:cs typeface="Arial MT"/>
                        </a:rPr>
                        <a:t>Solutions</a:t>
                      </a:r>
                      <a:endParaRPr lang="en-IN" sz="16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4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3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Motivation</a:t>
                      </a:r>
                      <a:r>
                        <a:rPr sz="1600" spc="-90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&amp;</a:t>
                      </a:r>
                      <a:r>
                        <a:rPr sz="1600" spc="20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Gaps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IN" sz="1600" spc="-50" dirty="0">
                          <a:latin typeface="Arial MT"/>
                          <a:cs typeface="Arial" panose="020B0604020202020204" pitchFamily="34" charset="0"/>
                        </a:rPr>
                        <a:t>                   9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4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Project</a:t>
                      </a:r>
                      <a:r>
                        <a:rPr sz="1600" spc="-30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Requirements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IN" sz="1600" spc="-50" dirty="0">
                          <a:latin typeface="Arial MT"/>
                          <a:cs typeface="Arial" panose="020B0604020202020204" pitchFamily="34" charset="0"/>
                        </a:rPr>
                        <a:t>                  10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5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Objectives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3295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600" spc="-25" dirty="0">
                          <a:latin typeface="Arial MT"/>
                          <a:cs typeface="Arial" panose="020B0604020202020204" pitchFamily="34" charset="0"/>
                        </a:rPr>
                        <a:t>3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6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Expected</a:t>
                      </a:r>
                      <a:r>
                        <a:rPr sz="1600" spc="-30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Outcomes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600" spc="-25" dirty="0">
                          <a:latin typeface="Arial MT"/>
                          <a:cs typeface="Arial" panose="020B0604020202020204" pitchFamily="34" charset="0"/>
                        </a:rPr>
                        <a:t>4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7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SDG</a:t>
                      </a:r>
                      <a:r>
                        <a:rPr sz="1600" spc="-40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Number</a:t>
                      </a:r>
                      <a:r>
                        <a:rPr sz="1600" spc="-3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and</a:t>
                      </a:r>
                      <a:r>
                        <a:rPr sz="1600" spc="-30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Global</a:t>
                      </a:r>
                      <a:r>
                        <a:rPr sz="1600" spc="-3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Challenge</a:t>
                      </a: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600" spc="-25" dirty="0">
                          <a:latin typeface="Arial MT"/>
                          <a:cs typeface="Arial" panose="020B0604020202020204" pitchFamily="34" charset="0"/>
                        </a:rPr>
                        <a:t>5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50" dirty="0">
                          <a:latin typeface="Arial MT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600" spc="-50" dirty="0">
                          <a:latin typeface="Arial MT"/>
                          <a:cs typeface="Arial" panose="020B0604020202020204" pitchFamily="34" charset="0"/>
                        </a:rPr>
                        <a:t>8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Project</a:t>
                      </a:r>
                      <a:r>
                        <a:rPr sz="1600" spc="-30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Domain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and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Mapping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with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Pos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/PSOs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" panose="020B0604020202020204" pitchFamily="34" charset="0"/>
                        </a:rPr>
                        <a:t>with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Justification</a:t>
                      </a:r>
                      <a:endParaRPr sz="160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600" spc="-25" dirty="0">
                          <a:latin typeface="Arial MT"/>
                          <a:cs typeface="Arial" panose="020B0604020202020204" pitchFamily="34" charset="0"/>
                        </a:rPr>
                        <a:t>6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marR="527685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9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Conclusion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600" spc="-25" dirty="0">
                          <a:latin typeface="Arial MT"/>
                          <a:cs typeface="Arial" panose="020B0604020202020204" pitchFamily="34" charset="0"/>
                        </a:rPr>
                        <a:t>7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8874">
                <a:tc>
                  <a:txBody>
                    <a:bodyPr/>
                    <a:lstStyle/>
                    <a:p>
                      <a:pPr marR="527685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10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Arial MT"/>
                          <a:cs typeface="Arial" panose="020B0604020202020204" pitchFamily="34" charset="0"/>
                        </a:rPr>
                        <a:t>References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just">
                        <a:lnSpc>
                          <a:spcPct val="97000"/>
                        </a:lnSpc>
                        <a:spcBef>
                          <a:spcPts val="270"/>
                        </a:spcBef>
                      </a:pPr>
                      <a:r>
                        <a:rPr lang="en-US" sz="1600" spc="-25" dirty="0">
                          <a:latin typeface="Arial MT"/>
                          <a:cs typeface="Arial" panose="020B0604020202020204" pitchFamily="34" charset="0"/>
                        </a:rPr>
                        <a:t>                 </a:t>
                      </a:r>
                      <a:r>
                        <a:rPr sz="1600" spc="-25" dirty="0"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600" spc="-25" dirty="0">
                          <a:latin typeface="Arial MT"/>
                          <a:cs typeface="Arial" panose="020B0604020202020204" pitchFamily="34" charset="0"/>
                        </a:rPr>
                        <a:t>8</a:t>
                      </a:r>
                      <a:endParaRPr sz="16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094719" y="6463665"/>
            <a:ext cx="21844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240"/>
              </a:lnSpc>
            </a:pPr>
            <a:fld id="{81D60167-4931-47E6-BA6A-407CBD079E47}" type="slidenum">
              <a:rPr spc="-25" dirty="0"/>
              <a:pPr marL="12700" algn="just">
                <a:lnSpc>
                  <a:spcPts val="1240"/>
                </a:lnSpc>
              </a:pPr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019" rIns="0" bIns="0" rtlCol="0">
            <a:spAutoFit/>
          </a:bodyPr>
          <a:lstStyle/>
          <a:p>
            <a:pPr marL="292989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solidFill>
                  <a:srgbClr val="FCFCFC"/>
                </a:solidFill>
              </a:rPr>
              <a:t>1.</a:t>
            </a:r>
            <a:r>
              <a:rPr sz="3200" dirty="0">
                <a:solidFill>
                  <a:srgbClr val="FCFCFC"/>
                </a:solidFill>
              </a:rPr>
              <a:t>Project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Title</a:t>
            </a:r>
            <a:r>
              <a:rPr sz="3200" spc="-65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and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spc="-20" dirty="0">
                <a:solidFill>
                  <a:srgbClr val="FCFCFC"/>
                </a:solidFill>
              </a:rPr>
              <a:t>Type</a:t>
            </a:r>
            <a:r>
              <a:rPr sz="3200" spc="-65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of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spc="-10" dirty="0">
                <a:solidFill>
                  <a:srgbClr val="FCFCFC"/>
                </a:solidFill>
              </a:rPr>
              <a:t>Project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208086" y="4114800"/>
            <a:ext cx="97758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200" b="1" spc="-20" dirty="0">
                <a:latin typeface="Arial" panose="020B0604020202020204"/>
                <a:cs typeface="Arial" panose="020B0604020202020204"/>
              </a:rPr>
              <a:t>Type</a:t>
            </a:r>
            <a:r>
              <a:rPr sz="3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Of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Project</a:t>
            </a:r>
            <a:r>
              <a:rPr sz="3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: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Arial MT"/>
                <a:cs typeface="Arial MT"/>
              </a:rPr>
              <a:t>Product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/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Hardware (IoT)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6D3CB-2420-9E33-9AB6-1D421179C4BA}"/>
              </a:ext>
            </a:extLst>
          </p:cNvPr>
          <p:cNvSpPr txBox="1"/>
          <p:nvPr/>
        </p:nvSpPr>
        <p:spPr>
          <a:xfrm>
            <a:off x="1828800" y="2743200"/>
            <a:ext cx="9001227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IoT Based Multi-Hazard Forest Protection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970" y="90860"/>
            <a:ext cx="118173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altLang="en-US" sz="32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Literature Survey</a:t>
            </a:r>
            <a:endParaRPr lang="en-IN" altLang="en-US" sz="3200" b="1" dirty="0">
              <a:solidFill>
                <a:srgbClr val="FDFDFD"/>
              </a:solidFill>
              <a:latin typeface="Arial" panose="020B0604020202020204" pitchFamily="34" charset="0"/>
              <a:ea typeface="Montserrat Classic"/>
              <a:cs typeface="Arial" panose="020B0604020202020204" pitchFamily="34" charset="0"/>
            </a:endParaRP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3199"/>
              </p:ext>
            </p:extLst>
          </p:nvPr>
        </p:nvGraphicFramePr>
        <p:xfrm>
          <a:off x="276600" y="1171800"/>
          <a:ext cx="11638800" cy="5143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1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1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8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 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3564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Badary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&amp; 2026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IEEE Access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  <a:tabLst>
                          <a:tab pos="2776538" algn="l"/>
                        </a:tabLst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Survey of AI-Enabled IoT for Wildfire Prediction, Detection, and Post-Operations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Comprehensive survey of AI-enabled IoT architectures combining UAVs, satellites, and ground sensor networks for wildfire prediction, detection, and post-fire operations.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Survey-only synthesis of existing methods; no dedicated gas sensing or logging detection proposed.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4472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fi-FI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Gul, İ.</a:t>
                      </a: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&amp; 2025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IEEE Internet of Things Journal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Dual-Purpose and Low-Cost IoT-Based Sensor Network for Real-Time Rainfall and Urban Flood Monitoring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Advantages: Single low-cost sensor node combines rainfall and flood-level sensing for dual-purpose real-time hazard monitoring.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Limitations: Rainfall/flood-hazard focus; not forest-tailored, no fire, gas, or logging sensing.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/>
        </p:nvSpPr>
        <p:spPr>
          <a:xfrm>
            <a:off x="11221719" y="6590665"/>
            <a:ext cx="218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200" b="0" i="0">
                <a:solidFill>
                  <a:schemeClr val="bg1"/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453628"/>
              </p:ext>
            </p:extLst>
          </p:nvPr>
        </p:nvGraphicFramePr>
        <p:xfrm>
          <a:off x="276600" y="1171799"/>
          <a:ext cx="11638799" cy="4514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3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1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 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1471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Rosa-Bilbao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</a:t>
                      </a: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&amp; 2025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IEEE Internet of Things Journal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IoT-Based Indoor Air Quality Management System for Intelligent Education Environments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Advantages: Self-manufactured IoT sensor network monitors CO2, PM2.5 and TVOCs with CEP and ML/DL-based real-time prediction.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Limitations: Indoor deployment only; no forest fire or logging detection capability.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8414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Aldhaheri</a:t>
                      </a: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al.  </a:t>
                      </a: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&amp; 2024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IEEE Internet of Things Journal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LoRa Communication for Agriculture 4.0: Opportunities, Challenges, and Future Directions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Advantages: Reviews LoRa's long-range, low-power connectivity for remote agricultural/rural IoT nodes with limited network coverage.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Limitations: Agriculture-focused review of open challenges; no fire, gas, or logging sensing proposed.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Contd.</a:t>
            </a:r>
          </a:p>
        </p:txBody>
      </p:sp>
      <p:sp>
        <p:nvSpPr>
          <p:cNvPr id="2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77601"/>
              </p:ext>
            </p:extLst>
          </p:nvPr>
        </p:nvGraphicFramePr>
        <p:xfrm>
          <a:off x="276600" y="1171800"/>
          <a:ext cx="11638799" cy="4520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1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84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 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872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C.C. Chan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</a:t>
                      </a: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2024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45720" lvl="0"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Survey on IoT Ground Sensing Systems for Early Wildfire Detection: Technologies, Challenges and Opportunities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Comprehensive review of IoT ground-sensing hardware and architectures for wildfire detection.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Survey-only; not a deployed or field-validated system.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438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N.Dilshad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al. </a:t>
                      </a:r>
                      <a:r>
                        <a:rPr 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</a:t>
                      </a: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IEEE IoT Journal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Toward Efficient Fire Detection in IoT Environment: A Modified Attention Network and Large-Scale Data Set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Lightweight attention-based CNN on a large-scale fire dataset for real-time IoT fire detection.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Vision-only; needs camera/compute, no gas or logging detection.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 txBox="1">
            <a:spLocks noGrp="1"/>
          </p:cNvSpPr>
          <p:nvPr>
            <p:ph type="sldNum" sz="quarter" idx="12"/>
          </p:nvPr>
        </p:nvSpPr>
        <p:spPr>
          <a:xfrm>
            <a:off x="11094720" y="6463665"/>
            <a:ext cx="167640" cy="158750"/>
          </a:xfrm>
        </p:spPr>
        <p:txBody>
          <a:bodyPr vert="horz" wrap="square" lIns="0" tIns="0" rIns="0" bIns="0" rtlCol="0">
            <a:spAutoFit/>
          </a:bodyPr>
          <a:lstStyle/>
          <a:p>
            <a:pPr marL="12700" lvl="0" algn="l">
              <a:lnSpc>
                <a:spcPts val="1240"/>
              </a:lnSpc>
              <a:buClrTx/>
              <a:buSzTx/>
              <a:buFontTx/>
            </a:pPr>
            <a:r>
              <a:rPr lang="en-IN" spc="-25" dirty="0">
                <a:sym typeface="+mn-e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00E13-905F-FB0B-1460-92C36EB5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9DA0D0-C2E9-2589-F21A-640B51397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953816"/>
              </p:ext>
            </p:extLst>
          </p:nvPr>
        </p:nvGraphicFramePr>
        <p:xfrm>
          <a:off x="276600" y="1040210"/>
          <a:ext cx="11638799" cy="4777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1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770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 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9103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Tripathi 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al.</a:t>
                      </a: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2024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IEEE Sensors Journal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Monitoring of Illegal Logging Events Using Intelligent Acoustic Sensor Nodes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Spectrogram features with classifiers on a microcontroller plus LoRa achieve 96.61% logging-detection accuracy.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Logging-only; no fire/gas sensing; tested in lab, not full field trials.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1471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Ahmad 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al.</a:t>
                      </a: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2023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IEEE Sensors</a:t>
                      </a: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Journal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Two-Level Sensor Self-Calibration Based on Interpolation and Autoregression for Low-Cost Wireless Sensor Networks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 with interpolation and autoregression lets low-cost WSN nodes self-detect and correct sensor drift without extra hardware.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Validated on a generic WSN calibration dataset; not forest-specific, no fire/logging sensing addressed.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20730-5FDE-BC68-3FF8-2961156842E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094720" y="6463665"/>
            <a:ext cx="167640" cy="158750"/>
          </a:xfrm>
        </p:spPr>
        <p:txBody>
          <a:bodyPr vert="horz" wrap="square" lIns="0" tIns="0" rIns="0" bIns="0" rtlCol="0">
            <a:spAutoFit/>
          </a:bodyPr>
          <a:lstStyle/>
          <a:p>
            <a:pPr marL="12700" lvl="0" algn="l">
              <a:lnSpc>
                <a:spcPts val="1240"/>
              </a:lnSpc>
              <a:buClrTx/>
              <a:buSzTx/>
              <a:buFontTx/>
            </a:pPr>
            <a:r>
              <a:rPr lang="en-IN" spc="-25" dirty="0">
                <a:sym typeface="+mn-ea"/>
              </a:rP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EF733-1698-1508-C2F0-34F40EC1093F}"/>
              </a:ext>
            </a:extLst>
          </p:cNvPr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Contd.</a:t>
            </a:r>
          </a:p>
        </p:txBody>
      </p:sp>
    </p:spTree>
    <p:extLst>
      <p:ext uri="{BB962C8B-B14F-4D97-AF65-F5344CB8AC3E}">
        <p14:creationId xmlns:p14="http://schemas.microsoft.com/office/powerpoint/2010/main" val="2639309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63791-4878-6FD4-A8CE-1D13B108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0EED0-F376-D90B-392E-F5E936197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151354"/>
              </p:ext>
            </p:extLst>
          </p:nvPr>
        </p:nvGraphicFramePr>
        <p:xfrm>
          <a:off x="276600" y="1171800"/>
          <a:ext cx="11638799" cy="4781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1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84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 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284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Ahmad 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al.</a:t>
                      </a: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&amp; 2023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IEEE Internet of Things Journal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Sustainable Environmental Monitoring via Energy and Information Efficient Multi-Node Placement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Advantages: Optimizes multi-node sensor placement for energy- and information-efficient continuous environmental monitoring.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Limitations: General environmental-monitoring placement study; not forest-specific, no fire, gas, or logging sensing.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4472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Dargie</a:t>
                      </a: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al.</a:t>
                      </a: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2023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IEEE Sensors Journal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 Toxic Gases Using Nanotechnology and Wireless Sensor Networks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Nanosensor-based WSN nodes give high-sensitivity, low-latency toxic-gas detection with multi-hop communication across a 21-node deployed network.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Toxic-gas sensing only; not forest-tailored, no fire or logging detection.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63A0C-F9CD-2C7F-088A-E1ED1C5D6B9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094720" y="6463665"/>
            <a:ext cx="167640" cy="158750"/>
          </a:xfrm>
        </p:spPr>
        <p:txBody>
          <a:bodyPr vert="horz" wrap="square" lIns="0" tIns="0" rIns="0" bIns="0" rtlCol="0">
            <a:spAutoFit/>
          </a:bodyPr>
          <a:lstStyle/>
          <a:p>
            <a:pPr marL="12700" lvl="0" algn="l">
              <a:lnSpc>
                <a:spcPts val="1240"/>
              </a:lnSpc>
              <a:buClrTx/>
              <a:buSzTx/>
              <a:buFontTx/>
            </a:pPr>
            <a:r>
              <a:rPr lang="en-IN" spc="-25" dirty="0">
                <a:sym typeface="+mn-ea"/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22C72-F2F8-EECB-2357-04453E351DD6}"/>
              </a:ext>
            </a:extLst>
          </p:cNvPr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Contd.</a:t>
            </a:r>
          </a:p>
        </p:txBody>
      </p:sp>
    </p:spTree>
    <p:extLst>
      <p:ext uri="{BB962C8B-B14F-4D97-AF65-F5344CB8AC3E}">
        <p14:creationId xmlns:p14="http://schemas.microsoft.com/office/powerpoint/2010/main" val="368937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4325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dirty="0"/>
              <a:t>Motivation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20" dirty="0"/>
              <a:t>Gaps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421" y="1143000"/>
            <a:ext cx="11781155" cy="44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 algn="just">
              <a:lnSpc>
                <a:spcPct val="15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	MOTIVATION</a:t>
            </a: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900" algn="l"/>
              </a:tabLst>
            </a:pPr>
            <a:r>
              <a:rPr lang="en-US" dirty="0">
                <a:latin typeface="Arial MT"/>
                <a:cs typeface="Arial" panose="020B0604020202020204" pitchFamily="34" charset="0"/>
              </a:rPr>
              <a:t>Existing forest monitoring systems usually detect only a single hazard (fire, gas, or illegal logging), reducing overall monitoring effectiveness.</a:t>
            </a: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900" algn="l"/>
              </a:tabLst>
            </a:pPr>
            <a:r>
              <a:rPr lang="en-US" dirty="0">
                <a:latin typeface="Arial MT"/>
                <a:cs typeface="Arial" panose="020B0604020202020204" pitchFamily="34" charset="0"/>
              </a:rPr>
              <a:t>There is a growing need for a low-cost, real-time multi-hazard monitoring system that can quickly alert forest authorities with the hazard location.</a:t>
            </a: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900" algn="l"/>
              </a:tabLs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134620" algn="just">
              <a:lnSpc>
                <a:spcPct val="15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>
                <a:latin typeface="Arial MT"/>
                <a:cs typeface="Arial" panose="020B0604020202020204" pitchFamily="34" charset="0"/>
              </a:rPr>
              <a:t>GAPS</a:t>
            </a:r>
            <a:endParaRPr lang="en-US" b="1" dirty="0">
              <a:latin typeface="Arial MT"/>
              <a:cs typeface="Arial" panose="020B0604020202020204" pitchFamily="34" charset="0"/>
            </a:endParaRP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900" algn="l"/>
              </a:tabLst>
            </a:pPr>
            <a:r>
              <a:rPr lang="en-US" dirty="0">
                <a:latin typeface="Arial MT"/>
                <a:cs typeface="Arial" panose="020B0604020202020204" pitchFamily="34" charset="0"/>
              </a:rPr>
              <a:t>Most existing solutions do not integrate multiple sensors (fire, gas, vibration/chainsaw) into a single field-deployable IoT node.</a:t>
            </a: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900" algn="l"/>
              </a:tabLst>
            </a:pPr>
            <a:r>
              <a:rPr lang="en-US" dirty="0">
                <a:latin typeface="Arial MT"/>
                <a:cs typeface="Arial" panose="020B0604020202020204" pitchFamily="34" charset="0"/>
              </a:rPr>
              <a:t> Many proposed systems depend on continuous cloud or GSM connectivity, making them less reliable in remote forest areas with poor network coverage.</a:t>
            </a:r>
          </a:p>
        </p:txBody>
      </p:sp>
      <p:sp>
        <p:nvSpPr>
          <p:cNvPr id="4" name="object 4"/>
          <p:cNvSpPr/>
          <p:nvPr/>
        </p:nvSpPr>
        <p:spPr>
          <a:xfrm>
            <a:off x="635" y="635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99611"/>
          </a:xfrm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4398645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Calibri" panose="020F0502020204030204"/>
                <a:cs typeface="Calibri" panose="020F0502020204030204"/>
              </a:rPr>
              <a:t>4.</a:t>
            </a:r>
            <a:r>
              <a:rPr dirty="0">
                <a:latin typeface="Calibri" panose="020F0502020204030204"/>
                <a:cs typeface="Calibri" panose="020F0502020204030204"/>
              </a:rPr>
              <a:t>Project</a:t>
            </a:r>
            <a:r>
              <a:rPr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821" y="1346122"/>
            <a:ext cx="11730355" cy="46217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sz="1600" b="1" spc="-8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endParaRPr lang="en-US" sz="1600" b="1" spc="-1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Forest Fire Detection: </a:t>
            </a:r>
            <a:r>
              <a:rPr dirty="0">
                <a:latin typeface="Arial MT"/>
                <a:cs typeface="Arial" panose="020B0604020202020204" pitchFamily="34" charset="0"/>
              </a:rPr>
              <a:t>Use an IR flame sensor, MQ-2 smoke sensor, and DHT22 to detect flame, smoke, and abnormal temperature/humidity spikes at each node location.</a:t>
            </a: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Toxic Gas Monitoring: </a:t>
            </a:r>
            <a:r>
              <a:rPr dirty="0">
                <a:latin typeface="Arial MT"/>
                <a:cs typeface="Arial" panose="020B0604020202020204" pitchFamily="34" charset="0"/>
              </a:rPr>
              <a:t>Use an MQ-135 sensor to continuously measure CO2, ammonia, and smoke-related air-quality levels and flag unsafe concentrations.</a:t>
            </a: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Illegal Logging Detection: </a:t>
            </a:r>
            <a:r>
              <a:rPr dirty="0">
                <a:latin typeface="Arial MT"/>
                <a:cs typeface="Arial" panose="020B0604020202020204" pitchFamily="34" charset="0"/>
              </a:rPr>
              <a:t>Use an SW-420 vibration sensor on the trunk plus a sound sensor to identify chainsaw acoustic signatures and cutting vibrations.</a:t>
            </a: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Location-Tagged Alerting: </a:t>
            </a:r>
            <a:r>
              <a:rPr dirty="0">
                <a:latin typeface="Arial MT"/>
                <a:cs typeface="Arial" panose="020B0604020202020204" pitchFamily="34" charset="0"/>
              </a:rPr>
              <a:t>Tag every sensor node with its forest zone/GPS location so every alert maps to an exact spot for rapid response.</a:t>
            </a:r>
            <a:endParaRPr lang="en-US" dirty="0">
              <a:latin typeface="Arial MT"/>
              <a:cs typeface="Arial" panose="020B0604020202020204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  <a:cs typeface="Arial" panose="020B0604020202020204" pitchFamily="34" charset="0"/>
              </a:rPr>
              <a:t>Local &amp; Remote Alerting:</a:t>
            </a:r>
            <a:r>
              <a:rPr lang="en-IN" dirty="0">
                <a:latin typeface="Arial MT"/>
                <a:cs typeface="Arial" panose="020B0604020202020204" pitchFamily="34" charset="0"/>
              </a:rPr>
              <a:t> Trigger an on-site buzzer/LED immediately on threshold breach and push a notification to a cloud dashboard for forest authorities.</a:t>
            </a:r>
            <a:endParaRPr dirty="0">
              <a:latin typeface="Arial MT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0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581400" y="134288"/>
            <a:ext cx="12034520" cy="499611"/>
          </a:xfrm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4398645">
              <a:lnSpc>
                <a:spcPct val="100000"/>
              </a:lnSpc>
              <a:spcBef>
                <a:spcPts val="95"/>
              </a:spcBef>
            </a:pPr>
            <a:r>
              <a:rPr lang="en-US" spc="-10" dirty="0">
                <a:latin typeface="Arial MT"/>
                <a:cs typeface="Calibri" panose="020F0502020204030204"/>
              </a:rPr>
              <a:t>Contd</a:t>
            </a:r>
            <a:r>
              <a:rPr lang="en-US" spc="-10" dirty="0">
                <a:latin typeface="Calibri" panose="020F0502020204030204"/>
                <a:cs typeface="Calibri" panose="020F0502020204030204"/>
              </a:rPr>
              <a:t>.</a:t>
            </a:r>
            <a:endParaRPr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904" y="1143000"/>
            <a:ext cx="11730355" cy="48243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solidFill>
                  <a:srgbClr val="FF0000"/>
                </a:solidFill>
                <a:latin typeface="Arial MT"/>
                <a:cs typeface="Arial" panose="020B0604020202020204" pitchFamily="34" charset="0"/>
              </a:rPr>
              <a:t>Non-</a:t>
            </a:r>
            <a:r>
              <a:rPr b="1" dirty="0">
                <a:solidFill>
                  <a:srgbClr val="FF0000"/>
                </a:solidFill>
                <a:latin typeface="Arial MT"/>
                <a:cs typeface="Arial" panose="020B0604020202020204" pitchFamily="34" charset="0"/>
              </a:rPr>
              <a:t>Functional</a:t>
            </a:r>
            <a:r>
              <a:rPr b="1" spc="-45" dirty="0">
                <a:solidFill>
                  <a:srgbClr val="FF0000"/>
                </a:solidFill>
                <a:latin typeface="Arial MT"/>
                <a:cs typeface="Arial" panose="020B0604020202020204" pitchFamily="34" charset="0"/>
              </a:rPr>
              <a:t> </a:t>
            </a:r>
            <a:r>
              <a:rPr b="1" spc="-10" dirty="0">
                <a:solidFill>
                  <a:srgbClr val="FF0000"/>
                </a:solidFill>
                <a:latin typeface="Arial MT"/>
                <a:cs typeface="Arial" panose="020B0604020202020204" pitchFamily="34" charset="0"/>
              </a:rPr>
              <a:t>Requirements</a:t>
            </a:r>
            <a:endParaRPr dirty="0">
              <a:latin typeface="Arial MT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1170"/>
              </a:spcBef>
            </a:pPr>
            <a:endParaRPr dirty="0">
              <a:latin typeface="Arial MT"/>
              <a:cs typeface="Arial" panose="020B0604020202020204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Fast Response Time: </a:t>
            </a:r>
            <a:r>
              <a:rPr dirty="0">
                <a:latin typeface="Arial MT"/>
                <a:cs typeface="Arial" panose="020B0604020202020204" pitchFamily="34" charset="0"/>
              </a:rPr>
              <a:t>Detect a threshold breach and trigger a local alert within a few seconds of the reading crossing the limit.</a:t>
            </a: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Low Power Consumption: </a:t>
            </a:r>
            <a:r>
              <a:rPr dirty="0">
                <a:latin typeface="Arial MT"/>
                <a:cs typeface="Arial" panose="020B0604020202020204" pitchFamily="34" charset="0"/>
              </a:rPr>
              <a:t>Run the ESP32 and all sensors on a solar/battery-backed supply so the node can operate unattended in remote forest areas.</a:t>
            </a: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Reliable Operation: </a:t>
            </a:r>
            <a:r>
              <a:rPr dirty="0">
                <a:latin typeface="Arial MT"/>
                <a:cs typeface="Arial" panose="020B0604020202020204" pitchFamily="34" charset="0"/>
              </a:rPr>
              <a:t>Keep sensor readings stable across varying temperature, humidity, and outdoor dust/wind conditions with minimal false alerts.</a:t>
            </a:r>
          </a:p>
          <a:p>
            <a:pPr marL="12700" marR="5080" algn="just">
              <a:lnSpc>
                <a:spcPct val="15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Easy Maintenance: </a:t>
            </a:r>
            <a:r>
              <a:rPr dirty="0">
                <a:latin typeface="Arial MT"/>
                <a:cs typeface="Arial" panose="020B0604020202020204" pitchFamily="34" charset="0"/>
              </a:rPr>
              <a:t>Use a compact, weatherproof enclosure and modular wiring so sensors can be inspected, calibrated, or replaced quickly in the field.</a:t>
            </a:r>
            <a:endParaRPr lang="en-US" dirty="0">
              <a:latin typeface="Arial MT"/>
              <a:cs typeface="Arial" panose="020B0604020202020204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  <a:cs typeface="Arial" panose="020B0604020202020204" pitchFamily="34" charset="0"/>
              </a:rPr>
              <a:t>Communication Resilience:</a:t>
            </a:r>
            <a:r>
              <a:rPr lang="en-IN" dirty="0">
                <a:latin typeface="Arial MT"/>
                <a:cs typeface="Arial" panose="020B0604020202020204" pitchFamily="34" charset="0"/>
              </a:rPr>
              <a:t> Fall back to LoRa or GSM for alert delivery in zones with no Wi-Fi coverage, ensuring alerts still reach forest staff.</a:t>
            </a:r>
            <a:endParaRPr dirty="0">
              <a:latin typeface="Arial MT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886200" y="84063"/>
            <a:ext cx="12034520" cy="499611"/>
          </a:xfrm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4398645">
              <a:lnSpc>
                <a:spcPct val="100000"/>
              </a:lnSpc>
              <a:spcBef>
                <a:spcPts val="95"/>
              </a:spcBef>
            </a:pPr>
            <a:r>
              <a:rPr lang="en-US" spc="-10" dirty="0">
                <a:latin typeface="Arial MT"/>
                <a:cs typeface="Calibri" panose="020F0502020204030204"/>
              </a:rPr>
              <a:t>Contd.</a:t>
            </a:r>
            <a:endParaRPr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252" y="1166587"/>
            <a:ext cx="434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Technical</a:t>
            </a:r>
            <a:r>
              <a:rPr sz="1800" b="1" spc="-6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-1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Architectural</a:t>
            </a:r>
            <a:r>
              <a:rPr sz="1800" b="1" spc="-6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Requirements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279" y="1828800"/>
            <a:ext cx="11730355" cy="342401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  <a:cs typeface="Arial" panose="020B0604020202020204"/>
              </a:rPr>
              <a:t>Sensor Layer: </a:t>
            </a:r>
            <a:r>
              <a:rPr lang="en-IN" dirty="0">
                <a:latin typeface="Arial MT"/>
                <a:cs typeface="Arial MT"/>
              </a:rPr>
              <a:t>IR flame sensor, MQ-2, DHT22, MQ-135, SW-420 vibration sensor, and a sound/mic module, all wired to a single ESP32 microcontroller.</a:t>
            </a:r>
          </a:p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  <a:cs typeface="Arial" panose="020B0604020202020204"/>
              </a:rPr>
              <a:t>Processing &amp; Logic: </a:t>
            </a:r>
            <a:r>
              <a:rPr lang="en-IN" dirty="0">
                <a:latin typeface="Arial MT"/>
                <a:cs typeface="Arial MT"/>
              </a:rPr>
              <a:t>ESP32 firmware reads all sensor values at fixed intervals and compares them against calibrated fire, gas, and vibration/acoustic thresholds.</a:t>
            </a:r>
          </a:p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  <a:cs typeface="Arial" panose="020B0604020202020204"/>
              </a:rPr>
              <a:t>Alerting Layer: </a:t>
            </a:r>
            <a:r>
              <a:rPr lang="en-IN" dirty="0">
                <a:latin typeface="Arial MT"/>
                <a:cs typeface="Arial MT"/>
              </a:rPr>
              <a:t>An onboard buzzer/LED activates immediately on-site, while the ESP32 pushes the hazard type, sensor readings, and node location over Wi-Fi/LoRa.</a:t>
            </a:r>
          </a:p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  <a:cs typeface="Arial" panose="020B0604020202020204"/>
              </a:rPr>
              <a:t>Monitoring Dashboard: </a:t>
            </a:r>
            <a:r>
              <a:rPr lang="en-IN" dirty="0">
                <a:latin typeface="Arial MT"/>
                <a:cs typeface="Arial MT"/>
              </a:rPr>
              <a:t>A simple web dashboard displays live sensor readings, active hazard alerts, and node locations on a forest map for patrol staff.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81000" y="43484"/>
            <a:ext cx="12034520" cy="501534"/>
          </a:xfrm>
          <a:prstGeom prst="rect">
            <a:avLst/>
          </a:prstGeom>
        </p:spPr>
        <p:txBody>
          <a:bodyPr vert="horz" wrap="square" lIns="0" tIns="69964" rIns="0" bIns="0" rtlCol="0">
            <a:spAutoFit/>
          </a:bodyPr>
          <a:lstStyle/>
          <a:p>
            <a:pPr marL="5094605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5.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821" y="1524000"/>
            <a:ext cx="11730355" cy="24801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dirty="0">
                <a:latin typeface="Arial MT"/>
                <a:cs typeface="Arial" panose="020B0604020202020204" pitchFamily="34" charset="0"/>
              </a:rPr>
              <a:t>To </a:t>
            </a:r>
            <a:r>
              <a:rPr dirty="0">
                <a:latin typeface="Arial MT"/>
                <a:cs typeface="Arial" panose="020B0604020202020204" pitchFamily="34" charset="0"/>
              </a:rPr>
              <a:t>continuously monitor a forest zone for fire, toxic gases, and illegal tree cutting using a single low-cost IoT sensor node.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dirty="0">
                <a:latin typeface="Arial MT"/>
                <a:cs typeface="Arial" panose="020B0604020202020204" pitchFamily="34" charset="0"/>
              </a:rPr>
              <a:t>To </a:t>
            </a:r>
            <a:r>
              <a:rPr dirty="0">
                <a:latin typeface="Arial MT"/>
                <a:cs typeface="Arial" panose="020B0604020202020204" pitchFamily="34" charset="0"/>
              </a:rPr>
              <a:t>reduce reliance on manual forest patrols by automating hazard detection with a low-cost, ESP32-based unit that runs unattended in the field.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dirty="0">
                <a:latin typeface="Arial MT"/>
                <a:cs typeface="Arial" panose="020B0604020202020204" pitchFamily="34" charset="0"/>
              </a:rPr>
              <a:t>To </a:t>
            </a:r>
            <a:r>
              <a:rPr dirty="0">
                <a:latin typeface="Arial MT"/>
                <a:cs typeface="Arial" panose="020B0604020202020204" pitchFamily="34" charset="0"/>
              </a:rPr>
              <a:t>enable a faster forest-authority response by sending instant, location-tagged alerts the moment a fire, gas, or logging threshold is crossed.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501534"/>
          </a:xfrm>
          <a:prstGeom prst="rect">
            <a:avLst/>
          </a:prstGeom>
        </p:spPr>
        <p:txBody>
          <a:bodyPr vert="horz" wrap="square" lIns="0" tIns="69964" rIns="0" bIns="0" rtlCol="0">
            <a:spAutoFit/>
          </a:bodyPr>
          <a:lstStyle/>
          <a:p>
            <a:pPr marL="4383405" algn="just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6.</a:t>
            </a:r>
            <a:r>
              <a:rPr dirty="0"/>
              <a:t>Expected</a:t>
            </a:r>
            <a:r>
              <a:rPr spc="-110" dirty="0"/>
              <a:t> </a:t>
            </a:r>
            <a:r>
              <a:rPr spc="-1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07370" y="1385333"/>
            <a:ext cx="4605889" cy="47679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Working Prototype –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 functional ESP32-based node that continuously monitors flame, smoke, toxic gas, and trunk vibration/sound at a forest location.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Real-Time Alerts –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Instant on-site buzzer/LED and a notification with the node’s location sent to a forest-authority dashboard the moment a hazard is detected.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Reduced Manual Patrolling –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Fewer routine manual forest patrols, since staff are notified only when a fire, gas, or logging threshold is crossed.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Safer, Better-Protected Forest –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Early warning of fire, toxic gases, and illegal logging supports faster ranger response and reduces ecological damage.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635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094719" y="6463665"/>
            <a:ext cx="21844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240"/>
              </a:lnSpc>
            </a:pPr>
            <a:fld id="{81D60167-4931-47E6-BA6A-407CBD079E47}" type="slidenum">
              <a:rPr spc="-25" dirty="0"/>
              <a:pPr marL="12700" algn="just">
                <a:lnSpc>
                  <a:spcPts val="1240"/>
                </a:lnSpc>
              </a:pPr>
              <a:t>14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809914-68B3-5E6F-A481-E08FF18D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45" y="1028700"/>
            <a:ext cx="72009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39" y="914400"/>
            <a:ext cx="11729720" cy="454483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80"/>
              </a:spcBef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00000"/>
              </a:lnSpc>
              <a:spcBef>
                <a:spcPts val="1180"/>
              </a:spcBef>
            </a:pPr>
            <a:r>
              <a:rPr b="1" dirty="0">
                <a:latin typeface="Arial MT"/>
                <a:cs typeface="Arial" panose="020B0604020202020204" pitchFamily="34" charset="0"/>
              </a:rPr>
              <a:t>SDG</a:t>
            </a:r>
            <a:r>
              <a:rPr b="1" spc="-25" dirty="0">
                <a:latin typeface="Arial MT"/>
                <a:cs typeface="Arial" panose="020B0604020202020204" pitchFamily="34" charset="0"/>
              </a:rPr>
              <a:t> </a:t>
            </a:r>
            <a:r>
              <a:rPr b="1" spc="-10" dirty="0">
                <a:latin typeface="Arial MT"/>
                <a:cs typeface="Arial" panose="020B0604020202020204" pitchFamily="34" charset="0"/>
              </a:rPr>
              <a:t>Number:</a:t>
            </a:r>
            <a:endParaRPr dirty="0">
              <a:latin typeface="Arial MT"/>
              <a:cs typeface="Arial" panose="020B0604020202020204" pitchFamily="34" charset="0"/>
            </a:endParaRPr>
          </a:p>
          <a:p>
            <a:pPr marL="533400" algn="just">
              <a:lnSpc>
                <a:spcPct val="100000"/>
              </a:lnSpc>
              <a:spcBef>
                <a:spcPts val="1080"/>
              </a:spcBef>
            </a:pPr>
            <a:r>
              <a:rPr dirty="0">
                <a:latin typeface="Arial MT"/>
                <a:cs typeface="Arial" panose="020B0604020202020204" pitchFamily="34" charset="0"/>
              </a:rPr>
              <a:t>SDG 15 – Life on Land</a:t>
            </a:r>
          </a:p>
          <a:p>
            <a:pPr algn="just">
              <a:lnSpc>
                <a:spcPct val="100000"/>
              </a:lnSpc>
            </a:pPr>
            <a:endParaRPr dirty="0">
              <a:latin typeface="Arial MT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180"/>
              </a:spcBef>
            </a:pPr>
            <a:endParaRPr dirty="0">
              <a:latin typeface="Arial MT"/>
              <a:cs typeface="Arial" panose="020B0604020202020204" pitchFamily="34" charset="0"/>
            </a:endParaRPr>
          </a:p>
          <a:p>
            <a:pPr marL="12700" algn="just">
              <a:lnSpc>
                <a:spcPct val="100000"/>
              </a:lnSpc>
            </a:pPr>
            <a:r>
              <a:rPr b="1" dirty="0">
                <a:latin typeface="Arial MT"/>
                <a:cs typeface="Arial" panose="020B0604020202020204" pitchFamily="34" charset="0"/>
              </a:rPr>
              <a:t>Global</a:t>
            </a:r>
            <a:r>
              <a:rPr b="1" spc="-35" dirty="0">
                <a:latin typeface="Arial MT"/>
                <a:cs typeface="Arial" panose="020B0604020202020204" pitchFamily="34" charset="0"/>
              </a:rPr>
              <a:t> </a:t>
            </a:r>
            <a:r>
              <a:rPr b="1" dirty="0">
                <a:latin typeface="Arial MT"/>
                <a:cs typeface="Arial" panose="020B0604020202020204" pitchFamily="34" charset="0"/>
              </a:rPr>
              <a:t>Challenge</a:t>
            </a:r>
            <a:r>
              <a:rPr b="1" spc="-35" dirty="0">
                <a:latin typeface="Arial MT"/>
                <a:cs typeface="Arial" panose="020B0604020202020204" pitchFamily="34" charset="0"/>
              </a:rPr>
              <a:t> </a:t>
            </a:r>
            <a:r>
              <a:rPr b="1" dirty="0">
                <a:latin typeface="Arial MT"/>
                <a:cs typeface="Arial" panose="020B0604020202020204" pitchFamily="34" charset="0"/>
              </a:rPr>
              <a:t>&amp;</a:t>
            </a:r>
            <a:r>
              <a:rPr b="1" spc="-30" dirty="0">
                <a:latin typeface="Arial MT"/>
                <a:cs typeface="Arial" panose="020B0604020202020204" pitchFamily="34" charset="0"/>
              </a:rPr>
              <a:t> </a:t>
            </a:r>
            <a:r>
              <a:rPr b="1" spc="-10" dirty="0">
                <a:latin typeface="Arial MT"/>
                <a:cs typeface="Arial" panose="020B0604020202020204" pitchFamily="34" charset="0"/>
              </a:rPr>
              <a:t>Relevance:</a:t>
            </a:r>
            <a:endParaRPr dirty="0">
              <a:latin typeface="Arial MT"/>
              <a:cs typeface="Arial" panose="020B0604020202020204" pitchFamily="34" charset="0"/>
            </a:endParaRPr>
          </a:p>
          <a:p>
            <a:pPr marL="927100" marR="5080" indent="-457200" algn="just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dirty="0">
                <a:latin typeface="Arial MT"/>
                <a:cs typeface="Arial" panose="020B0604020202020204" pitchFamily="34" charset="0"/>
              </a:rPr>
              <a:t>Protecting Forest Ecosystems – Early detection of fire, illegal logging, and toxic gas build-up helps rangers stop damage before it spreads, directly supporting SDG 15 (Life on Land).</a:t>
            </a:r>
          </a:p>
          <a:p>
            <a:pPr marL="927100" marR="5080" indent="-457200" algn="just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dirty="0">
                <a:latin typeface="Arial MT"/>
                <a:cs typeface="Arial" panose="020B0604020202020204" pitchFamily="34" charset="0"/>
              </a:rPr>
              <a:t>Climate &amp; Community Resilience – Faster fire and toxic-gas alerts reduce carbon-releasing wildfires and protect nearby communities’ air quality, supporting SDG 13 (Climate Action).</a:t>
            </a:r>
          </a:p>
          <a:p>
            <a:pPr marL="927100" marR="5080" indent="-457200" algn="just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dirty="0">
                <a:latin typeface="Arial MT"/>
                <a:cs typeface="Arial" panose="020B0604020202020204" pitchFamily="34" charset="0"/>
              </a:rPr>
              <a:t>Supporting Low-Cost Forest Governance – A single affordable IoT node makes continuous, multi-hazard forest surveillance practical for resource-limited forest departments.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304800" y="184404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115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Calibri" panose="020F0502020204030204"/>
                <a:cs typeface="Calibri" panose="020F0502020204030204"/>
              </a:rPr>
              <a:t>7.</a:t>
            </a:r>
            <a:r>
              <a:rPr dirty="0">
                <a:latin typeface="Calibri" panose="020F0502020204030204"/>
                <a:cs typeface="Calibri" panose="020F0502020204030204"/>
              </a:rPr>
              <a:t>SDG</a:t>
            </a:r>
            <a:r>
              <a:rPr spc="-55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Number</a:t>
            </a:r>
            <a:r>
              <a:rPr spc="-55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and</a:t>
            </a:r>
            <a:r>
              <a:rPr spc="-50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Global</a:t>
            </a:r>
            <a:r>
              <a:rPr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Challenge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680720" y="159904"/>
            <a:ext cx="12034520" cy="482683"/>
          </a:xfrm>
          <a:prstGeom prst="rect">
            <a:avLst/>
          </a:prstGeom>
        </p:spPr>
        <p:txBody>
          <a:bodyPr vert="horz" wrap="square" lIns="0" tIns="51295" rIns="0" bIns="0" rtlCol="0">
            <a:spAutoFit/>
          </a:bodyPr>
          <a:lstStyle/>
          <a:p>
            <a:pPr marL="1563370" algn="just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8.</a:t>
            </a:r>
            <a:r>
              <a:rPr dirty="0"/>
              <a:t>Project</a:t>
            </a:r>
            <a:r>
              <a:rPr spc="-55" dirty="0"/>
              <a:t> </a:t>
            </a:r>
            <a:r>
              <a:rPr dirty="0"/>
              <a:t>Domain</a:t>
            </a:r>
            <a:r>
              <a:rPr spc="-50" dirty="0"/>
              <a:t> </a:t>
            </a:r>
            <a:r>
              <a:rPr dirty="0"/>
              <a:t>Mapping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POs</a:t>
            </a:r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dirty="0"/>
              <a:t>PSOs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justification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97785"/>
              </p:ext>
            </p:extLst>
          </p:nvPr>
        </p:nvGraphicFramePr>
        <p:xfrm>
          <a:off x="624547" y="1295400"/>
          <a:ext cx="10729253" cy="3878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64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70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6420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154940" marR="68580" indent="-7937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Course </a:t>
                      </a: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PO5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PO7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PO9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PO10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PSO1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PSO2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IN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9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IN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IN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IN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IN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.5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b="1" spc="-2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IN" sz="1500" b="1" spc="-20" dirty="0">
                          <a:latin typeface="Arial" panose="020B0604020202020204"/>
                          <a:cs typeface="Arial" panose="020B0604020202020204"/>
                        </a:rPr>
                        <a:t>308</a:t>
                      </a:r>
                      <a:endParaRPr sz="1500" dirty="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1500" b="1" spc="-20" dirty="0">
                          <a:latin typeface="Arial" panose="020B0604020202020204"/>
                          <a:cs typeface="Arial" panose="020B0604020202020204"/>
                        </a:rPr>
                        <a:t>Avg.</a:t>
                      </a:r>
                      <a:endParaRPr sz="15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     2.4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0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2.2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2.0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6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89928" y="5443511"/>
            <a:ext cx="4848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HIGH: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MEDIUM: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LOW: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CONTRIBUTION: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–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just"/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094719" y="6463665"/>
            <a:ext cx="21844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240"/>
              </a:lnSpc>
            </a:pPr>
            <a:fld id="{81D60167-4931-47E6-BA6A-407CBD079E47}" type="slidenum">
              <a:rPr spc="-25" dirty="0"/>
              <a:pPr marL="12700" algn="just">
                <a:lnSpc>
                  <a:spcPts val="1240"/>
                </a:lnSpc>
              </a:pPr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4870">
              <a:lnSpc>
                <a:spcPct val="100000"/>
              </a:lnSpc>
              <a:spcBef>
                <a:spcPts val="95"/>
              </a:spcBef>
            </a:pPr>
            <a:r>
              <a:rPr lang="en-US" spc="-10" dirty="0">
                <a:latin typeface="Calibri" panose="020F0502020204030204"/>
                <a:cs typeface="Calibri" panose="020F0502020204030204"/>
              </a:rPr>
              <a:t>9.</a:t>
            </a:r>
            <a:r>
              <a:rPr spc="-10" dirty="0">
                <a:latin typeface="Calibri" panose="020F0502020204030204"/>
                <a:cs typeface="Calibri" panose="020F0502020204030204"/>
              </a:rPr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11477625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dirty="0">
                <a:cs typeface="Arial" panose="020B0604020202020204" pitchFamily="34" charset="0"/>
              </a:rPr>
              <a:t>The IoT-Based Multi-Hazard Forest Protection System offers a low-cost approach to detecting forest fire, toxic gases, and illegal tree cutting using a single ESP32-based sensor node.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dirty="0">
                <a:cs typeface="Arial" panose="020B0604020202020204" pitchFamily="34" charset="0"/>
              </a:rPr>
              <a:t>It enables early detection of fire, unsafe gas levels, and chainsaw/logging activity before they cause major ecological damage, allowing forest authorities to act before conditions worsen.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dirty="0">
                <a:cs typeface="Arial" panose="020B0604020202020204" pitchFamily="34" charset="0"/>
              </a:rPr>
              <a:t>By combining flame, gas, vibration, and acoustic sensing with location-tagged alerts, the system pinpoints exactly which forest zone needs attention, cutting down manual patrol time.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dirty="0">
                <a:cs typeface="Arial" panose="020B0604020202020204" pitchFamily="34" charset="0"/>
              </a:rPr>
              <a:t>The design supports safer, better-protected forests by warning rangers of fire, toxic gas build-up, or illegal cutting before it escalates.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dirty="0">
                <a:cs typeface="Arial" panose="020B0604020202020204" pitchFamily="34" charset="0"/>
              </a:rPr>
              <a:t>Overall, the system provides a practical, scalable step toward smarter forest surveillance, supporting SDG 15 (Life on Land) and SDG 13 (Climate Action).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58729"/>
            <a:ext cx="11638446" cy="55875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>
                <a:latin typeface="Arial MT"/>
                <a:cs typeface="Arial" panose="020B0604020202020204" pitchFamily="34" charset="0"/>
              </a:rPr>
              <a:t>Ahmad, R.,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Rinner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B.,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Wazirali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R.,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Abujayyab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S.K.M. and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Almajalid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R. (2023) ‘Two-Level Sensor Self-Calibration Based on Interpolation and Autoregression for Low-Cost Wireless Sensor Networks’, IEEE Sensors Journal, 23(20), pp.25242–25253.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>
                <a:latin typeface="Arial MT"/>
                <a:cs typeface="Arial" panose="020B0604020202020204" pitchFamily="34" charset="0"/>
              </a:rPr>
              <a:t>Ahmad, S.,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Uyanık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H.,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Ovatman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T.,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Sandıkkaya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M.T., De Maio, V.,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Brandić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I. and Aral, A. (2023) ‘Sustainable Environmental Monitoring via Energy and Information Efficient Multi-Node Placement’, IEEE Internet of Things Journal.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 err="1">
                <a:latin typeface="Arial MT"/>
                <a:cs typeface="Arial" panose="020B0604020202020204" pitchFamily="34" charset="0"/>
              </a:rPr>
              <a:t>Aldhaheri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L.,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Alshehhi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N., Manzil, I.I.J., Khalil, R.A., Javaid, S., Saeed, N. and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Alouini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M.S. (2024) ‘LoRa Communication for Agriculture 4.0: Opportunities, Challenges, and Future Directions’, IEEE Internet of Things Journal.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 err="1">
                <a:latin typeface="Arial MT"/>
                <a:cs typeface="Arial" panose="020B0604020202020204" pitchFamily="34" charset="0"/>
              </a:rPr>
              <a:t>Badary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A.,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Karray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F. and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Saddik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A.E. (2026) ‘Survey of AI-Enabled IoT for Wildfire Prediction, Detection, and Post-Operations’, IEEE Access.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>
                <a:latin typeface="Arial MT"/>
                <a:cs typeface="Arial" panose="020B0604020202020204" pitchFamily="34" charset="0"/>
              </a:rPr>
              <a:t>Chan, C.C.,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Alvi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S.A., Zhou, X.,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Durrani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S., Wilson, N. and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Yebra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M. (2024) ‘A Survey on IoT Ground Sensing Systems for Early Wildfire Detection: Technologies, Challenges and Opportunities’, IEEE Access, 12, pp.172785–172819.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 err="1">
                <a:latin typeface="Arial MT"/>
                <a:cs typeface="Arial" panose="020B0604020202020204" pitchFamily="34" charset="0"/>
              </a:rPr>
              <a:t>Dargie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W., Wen, J., Panes-Ruiz, L.A., Riemenschneider, L.,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Ibarlucea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B. and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Cuniberti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G. (2023) ‘Monitoring Toxic Gases Using Nanotechnology and Wireless Sensor Networks’, IEEE Sensors Journal, 23, pp.12274–12283.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>
                <a:latin typeface="Arial MT"/>
                <a:cs typeface="Arial" panose="020B0604020202020204" pitchFamily="34" charset="0"/>
              </a:rPr>
              <a:t>Dilshad, N., Khan, S.U., Alghamdi, N.S.,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Taleb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T. and Song, J. (2024) ‘Toward Efficient Fire Detection in IoT Environment: A Modified Attention Network and Large-Scale Data Set’, IEEE Internet of Things Journal, 11(8), pp.13467–13481.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>
                <a:latin typeface="Arial MT"/>
                <a:cs typeface="Arial" panose="020B0604020202020204" pitchFamily="34" charset="0"/>
              </a:rPr>
              <a:t>Gül, İ. (2025) ‘Dual-Purpose and Low-Cost IoT-Based Sensor Network for Real-Time Rainfall and Urban Flood Monitoring’, IEEE Internet of Things Journal.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>
                <a:latin typeface="Arial MT"/>
                <a:cs typeface="Arial" panose="020B0604020202020204" pitchFamily="34" charset="0"/>
              </a:rPr>
              <a:t>Rosa-Bilbao, J., Sajid Butt, F.,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Merkl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, D., Wagner, M.F., Schäfer, J. and </a:t>
            </a:r>
            <a:r>
              <a:rPr lang="en-IN" sz="1600" dirty="0" err="1">
                <a:latin typeface="Arial MT"/>
                <a:cs typeface="Arial" panose="020B0604020202020204" pitchFamily="34" charset="0"/>
              </a:rPr>
              <a:t>Boubeta</a:t>
            </a:r>
            <a:r>
              <a:rPr lang="en-IN" sz="1600" dirty="0">
                <a:latin typeface="Arial MT"/>
                <a:cs typeface="Arial" panose="020B0604020202020204" pitchFamily="34" charset="0"/>
              </a:rPr>
              <a:t>-Puig, J. (2025) ‘IoT-Based Indoor Air Quality Management System for Intelligent Education Environments’, IEEE Internet of Things Journal, 12(11), pp.18031–18041.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IN" sz="1600" dirty="0">
                <a:latin typeface="Arial MT"/>
                <a:cs typeface="Arial" panose="020B0604020202020204" pitchFamily="34" charset="0"/>
              </a:rPr>
              <a:t>Singh, V., Ray, K.C. and Tripathi, S. (2024) ‘Real-Time Monitoring of Illegal Logging Events Using Intelligent Acoustic Sensor Nodes’, IEEE Sensors Journal.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737600" y="158210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1330" algn="l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10.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2415</Words>
  <Application>Microsoft Office PowerPoint</Application>
  <PresentationFormat>Widescreen</PresentationFormat>
  <Paragraphs>340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Arial Bold</vt:lpstr>
      <vt:lpstr>Arial MT</vt:lpstr>
      <vt:lpstr>Calibri</vt:lpstr>
      <vt:lpstr>Times New Roman</vt:lpstr>
      <vt:lpstr>Wingdings</vt:lpstr>
      <vt:lpstr>Office Theme</vt:lpstr>
      <vt:lpstr>PowerPoint Presentation</vt:lpstr>
      <vt:lpstr>Contents</vt:lpstr>
      <vt:lpstr>1.Project Title and Type of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3.Motivation and Gaps</vt:lpstr>
      <vt:lpstr>4.Project Requirements</vt:lpstr>
      <vt:lpstr>Contd.</vt:lpstr>
      <vt:lpstr>Contd.</vt:lpstr>
      <vt:lpstr>5.Objectives</vt:lpstr>
      <vt:lpstr>6.Expected Outcome</vt:lpstr>
      <vt:lpstr>7.SDG Number and Global Challenge</vt:lpstr>
      <vt:lpstr>8.Project Domain Mapping with POs / PSOs with justification</vt:lpstr>
      <vt:lpstr>9.Conclusion</vt:lpstr>
      <vt:lpstr>10.References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Number: 1</dc:title>
  <dc:creator>Madhushree Kalyanasundram</dc:creator>
  <cp:lastModifiedBy>Eren Yeager</cp:lastModifiedBy>
  <cp:revision>26</cp:revision>
  <dcterms:created xsi:type="dcterms:W3CDTF">2026-07-04T00:08:00Z</dcterms:created>
  <dcterms:modified xsi:type="dcterms:W3CDTF">2026-07-21T05:50:54Z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2025-12-10T05:30:00Z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2026-07-04T05:30:00Z</vt:filetime>
  </property>
  <property fmtid="{D5CDD505-2E9C-101B-9397-08002B2CF9AE}" pid="6" name="SourceModified">
    <vt:lpwstr>D:20251210182435+05'30'</vt:lpwstr>
  </property>
  <property fmtid="{D5CDD505-2E9C-101B-9397-08002B2CF9AE}" pid="7" name="KSOProductBuildVer">
    <vt:lpwstr>1033-12.1.0.26880</vt:lpwstr>
  </property>
  <property fmtid="{D5CDD505-2E9C-101B-9397-08002B2CF9AE}" pid="8" name="ICV">
    <vt:lpwstr>1CC8D5C8BF1C408FA2FE6993CB23F4ED_12</vt:lpwstr>
  </property>
</Properties>
</file>