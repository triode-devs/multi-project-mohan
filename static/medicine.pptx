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0" r:id="rId2"/>
    <p:sldId id="257" r:id="rId3"/>
    <p:sldId id="258" r:id="rId4"/>
    <p:sldId id="277" r:id="rId5"/>
    <p:sldId id="278" r:id="rId6"/>
    <p:sldId id="279" r:id="rId7"/>
    <p:sldId id="281" r:id="rId8"/>
    <p:sldId id="282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5" r:id="rId18"/>
    <p:sldId id="276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60" y="32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en Yeager" userId="f8119b3fffea4b0d" providerId="LiveId" clId="{F5FA8F01-EB6F-49E6-B775-A3BBCF9954F5}"/>
    <pc:docChg chg="undo custSel modSld">
      <pc:chgData name="Eren Yeager" userId="f8119b3fffea4b0d" providerId="LiveId" clId="{F5FA8F01-EB6F-49E6-B775-A3BBCF9954F5}" dt="2026-07-22T07:07:18.007" v="106" actId="14100"/>
      <pc:docMkLst>
        <pc:docMk/>
      </pc:docMkLst>
      <pc:sldChg chg="modSp mod">
        <pc:chgData name="Eren Yeager" userId="f8119b3fffea4b0d" providerId="LiveId" clId="{F5FA8F01-EB6F-49E6-B775-A3BBCF9954F5}" dt="2026-07-22T07:05:49.948" v="85" actId="20577"/>
        <pc:sldMkLst>
          <pc:docMk/>
          <pc:sldMk cId="0" sldId="262"/>
        </pc:sldMkLst>
        <pc:spChg chg="mod">
          <ac:chgData name="Eren Yeager" userId="f8119b3fffea4b0d" providerId="LiveId" clId="{F5FA8F01-EB6F-49E6-B775-A3BBCF9954F5}" dt="2026-07-22T07:05:49.948" v="85" actId="20577"/>
          <ac:spMkLst>
            <pc:docMk/>
            <pc:sldMk cId="0" sldId="262"/>
            <ac:spMk id="2" creationId="{00000000-0000-0000-0000-000000000000}"/>
          </ac:spMkLst>
        </pc:spChg>
      </pc:sldChg>
      <pc:sldChg chg="modSp mod">
        <pc:chgData name="Eren Yeager" userId="f8119b3fffea4b0d" providerId="LiveId" clId="{F5FA8F01-EB6F-49E6-B775-A3BBCF9954F5}" dt="2026-07-22T07:05:57.491" v="87" actId="20577"/>
        <pc:sldMkLst>
          <pc:docMk/>
          <pc:sldMk cId="0" sldId="263"/>
        </pc:sldMkLst>
        <pc:spChg chg="mod">
          <ac:chgData name="Eren Yeager" userId="f8119b3fffea4b0d" providerId="LiveId" clId="{F5FA8F01-EB6F-49E6-B775-A3BBCF9954F5}" dt="2026-07-22T07:05:57.491" v="87" actId="20577"/>
          <ac:spMkLst>
            <pc:docMk/>
            <pc:sldMk cId="0" sldId="263"/>
            <ac:spMk id="2" creationId="{00000000-0000-0000-0000-000000000000}"/>
          </ac:spMkLst>
        </pc:spChg>
      </pc:sldChg>
      <pc:sldChg chg="modSp mod">
        <pc:chgData name="Eren Yeager" userId="f8119b3fffea4b0d" providerId="LiveId" clId="{F5FA8F01-EB6F-49E6-B775-A3BBCF9954F5}" dt="2026-07-22T07:06:06.605" v="89" actId="20577"/>
        <pc:sldMkLst>
          <pc:docMk/>
          <pc:sldMk cId="0" sldId="266"/>
        </pc:sldMkLst>
        <pc:spChg chg="mod">
          <ac:chgData name="Eren Yeager" userId="f8119b3fffea4b0d" providerId="LiveId" clId="{F5FA8F01-EB6F-49E6-B775-A3BBCF9954F5}" dt="2026-07-22T07:06:06.605" v="89" actId="20577"/>
          <ac:spMkLst>
            <pc:docMk/>
            <pc:sldMk cId="0" sldId="266"/>
            <ac:spMk id="2" creationId="{00000000-0000-0000-0000-000000000000}"/>
          </ac:spMkLst>
        </pc:spChg>
      </pc:sldChg>
      <pc:sldChg chg="modSp mod">
        <pc:chgData name="Eren Yeager" userId="f8119b3fffea4b0d" providerId="LiveId" clId="{F5FA8F01-EB6F-49E6-B775-A3BBCF9954F5}" dt="2026-07-22T07:06:12.208" v="91" actId="20577"/>
        <pc:sldMkLst>
          <pc:docMk/>
          <pc:sldMk cId="0" sldId="267"/>
        </pc:sldMkLst>
        <pc:spChg chg="mod">
          <ac:chgData name="Eren Yeager" userId="f8119b3fffea4b0d" providerId="LiveId" clId="{F5FA8F01-EB6F-49E6-B775-A3BBCF9954F5}" dt="2026-07-22T07:06:12.208" v="91" actId="20577"/>
          <ac:spMkLst>
            <pc:docMk/>
            <pc:sldMk cId="0" sldId="267"/>
            <ac:spMk id="2" creationId="{00000000-0000-0000-0000-000000000000}"/>
          </ac:spMkLst>
        </pc:spChg>
        <pc:picChg chg="mod">
          <ac:chgData name="Eren Yeager" userId="f8119b3fffea4b0d" providerId="LiveId" clId="{F5FA8F01-EB6F-49E6-B775-A3BBCF9954F5}" dt="2026-07-22T05:44:03.614" v="81" actId="14100"/>
          <ac:picMkLst>
            <pc:docMk/>
            <pc:sldMk cId="0" sldId="267"/>
            <ac:picMk id="3" creationId="{00000000-0000-0000-0000-000000000000}"/>
          </ac:picMkLst>
        </pc:picChg>
      </pc:sldChg>
      <pc:sldChg chg="modSp mod">
        <pc:chgData name="Eren Yeager" userId="f8119b3fffea4b0d" providerId="LiveId" clId="{F5FA8F01-EB6F-49E6-B775-A3BBCF9954F5}" dt="2026-07-22T07:06:17.282" v="93" actId="20577"/>
        <pc:sldMkLst>
          <pc:docMk/>
          <pc:sldMk cId="0" sldId="268"/>
        </pc:sldMkLst>
        <pc:spChg chg="mod">
          <ac:chgData name="Eren Yeager" userId="f8119b3fffea4b0d" providerId="LiveId" clId="{F5FA8F01-EB6F-49E6-B775-A3BBCF9954F5}" dt="2026-07-21T13:38:43.389" v="8" actId="123"/>
          <ac:spMkLst>
            <pc:docMk/>
            <pc:sldMk cId="0" sldId="268"/>
            <ac:spMk id="2" creationId="{00000000-0000-0000-0000-000000000000}"/>
          </ac:spMkLst>
        </pc:spChg>
        <pc:spChg chg="mod">
          <ac:chgData name="Eren Yeager" userId="f8119b3fffea4b0d" providerId="LiveId" clId="{F5FA8F01-EB6F-49E6-B775-A3BBCF9954F5}" dt="2026-07-22T07:06:17.282" v="93" actId="20577"/>
          <ac:spMkLst>
            <pc:docMk/>
            <pc:sldMk cId="0" sldId="268"/>
            <ac:spMk id="3" creationId="{00000000-0000-0000-0000-000000000000}"/>
          </ac:spMkLst>
        </pc:spChg>
      </pc:sldChg>
      <pc:sldChg chg="modSp mod">
        <pc:chgData name="Eren Yeager" userId="f8119b3fffea4b0d" providerId="LiveId" clId="{F5FA8F01-EB6F-49E6-B775-A3BBCF9954F5}" dt="2026-07-22T07:07:18.007" v="106" actId="14100"/>
        <pc:sldMkLst>
          <pc:docMk/>
          <pc:sldMk cId="0" sldId="269"/>
        </pc:sldMkLst>
        <pc:spChg chg="mod">
          <ac:chgData name="Eren Yeager" userId="f8119b3fffea4b0d" providerId="LiveId" clId="{F5FA8F01-EB6F-49E6-B775-A3BBCF9954F5}" dt="2026-07-22T07:07:18.007" v="106" actId="14100"/>
          <ac:spMkLst>
            <pc:docMk/>
            <pc:sldMk cId="0" sldId="269"/>
            <ac:spMk id="2" creationId="{00000000-0000-0000-0000-000000000000}"/>
          </ac:spMkLst>
        </pc:spChg>
      </pc:sldChg>
      <pc:sldChg chg="modSp mod">
        <pc:chgData name="Eren Yeager" userId="f8119b3fffea4b0d" providerId="LiveId" clId="{F5FA8F01-EB6F-49E6-B775-A3BBCF9954F5}" dt="2026-07-22T07:06:36.422" v="98" actId="20577"/>
        <pc:sldMkLst>
          <pc:docMk/>
          <pc:sldMk cId="0" sldId="275"/>
        </pc:sldMkLst>
        <pc:spChg chg="mod">
          <ac:chgData name="Eren Yeager" userId="f8119b3fffea4b0d" providerId="LiveId" clId="{F5FA8F01-EB6F-49E6-B775-A3BBCF9954F5}" dt="2026-07-22T07:06:36.422" v="98" actId="20577"/>
          <ac:spMkLst>
            <pc:docMk/>
            <pc:sldMk cId="0" sldId="275"/>
            <ac:spMk id="2" creationId="{00000000-0000-0000-0000-000000000000}"/>
          </ac:spMkLst>
        </pc:spChg>
        <pc:spChg chg="mod">
          <ac:chgData name="Eren Yeager" userId="f8119b3fffea4b0d" providerId="LiveId" clId="{F5FA8F01-EB6F-49E6-B775-A3BBCF9954F5}" dt="2026-07-21T13:38:34.034" v="6" actId="123"/>
          <ac:spMkLst>
            <pc:docMk/>
            <pc:sldMk cId="0" sldId="275"/>
            <ac:spMk id="3" creationId="{00000000-0000-0000-0000-000000000000}"/>
          </ac:spMkLst>
        </pc:spChg>
      </pc:sldChg>
      <pc:sldChg chg="modSp mod">
        <pc:chgData name="Eren Yeager" userId="f8119b3fffea4b0d" providerId="LiveId" clId="{F5FA8F01-EB6F-49E6-B775-A3BBCF9954F5}" dt="2026-07-22T07:07:03.319" v="104" actId="14100"/>
        <pc:sldMkLst>
          <pc:docMk/>
          <pc:sldMk cId="0" sldId="276"/>
        </pc:sldMkLst>
        <pc:spChg chg="mod">
          <ac:chgData name="Eren Yeager" userId="f8119b3fffea4b0d" providerId="LiveId" clId="{F5FA8F01-EB6F-49E6-B775-A3BBCF9954F5}" dt="2026-07-21T13:38:26.778" v="4" actId="123"/>
          <ac:spMkLst>
            <pc:docMk/>
            <pc:sldMk cId="0" sldId="276"/>
            <ac:spMk id="2" creationId="{00000000-0000-0000-0000-000000000000}"/>
          </ac:spMkLst>
        </pc:spChg>
        <pc:spChg chg="mod">
          <ac:chgData name="Eren Yeager" userId="f8119b3fffea4b0d" providerId="LiveId" clId="{F5FA8F01-EB6F-49E6-B775-A3BBCF9954F5}" dt="2026-07-22T07:07:03.319" v="104" actId="14100"/>
          <ac:spMkLst>
            <pc:docMk/>
            <pc:sldMk cId="0" sldId="276"/>
            <ac:spMk id="3" creationId="{00000000-0000-0000-0000-000000000000}"/>
          </ac:spMkLst>
        </pc:spChg>
      </pc:sldChg>
      <pc:sldChg chg="modSp mod">
        <pc:chgData name="Eren Yeager" userId="f8119b3fffea4b0d" providerId="LiveId" clId="{F5FA8F01-EB6F-49E6-B775-A3BBCF9954F5}" dt="2026-07-22T07:05:41.787" v="83" actId="20577"/>
        <pc:sldMkLst>
          <pc:docMk/>
          <pc:sldMk cId="0" sldId="277"/>
        </pc:sldMkLst>
        <pc:spChg chg="mod">
          <ac:chgData name="Eren Yeager" userId="f8119b3fffea4b0d" providerId="LiveId" clId="{F5FA8F01-EB6F-49E6-B775-A3BBCF9954F5}" dt="2026-07-22T07:05:41.787" v="83" actId="20577"/>
          <ac:spMkLst>
            <pc:docMk/>
            <pc:sldMk cId="0" sldId="277"/>
            <ac:spMk id="2" creationId="{00000000-0000-0000-0000-000000000000}"/>
          </ac:spMkLst>
        </pc:spChg>
        <pc:graphicFrameChg chg="mod modGraphic">
          <ac:chgData name="Eren Yeager" userId="f8119b3fffea4b0d" providerId="LiveId" clId="{F5FA8F01-EB6F-49E6-B775-A3BBCF9954F5}" dt="2026-07-21T13:46:42.889" v="78" actId="255"/>
          <ac:graphicFrameMkLst>
            <pc:docMk/>
            <pc:sldMk cId="0" sldId="277"/>
            <ac:graphicFrameMk id="8" creationId="{00000000-0000-0000-0000-000000000000}"/>
          </ac:graphicFrameMkLst>
        </pc:graphicFrameChg>
      </pc:sldChg>
      <pc:sldChg chg="modSp mod">
        <pc:chgData name="Eren Yeager" userId="f8119b3fffea4b0d" providerId="LiveId" clId="{F5FA8F01-EB6F-49E6-B775-A3BBCF9954F5}" dt="2026-07-21T13:46:09.294" v="74" actId="1076"/>
        <pc:sldMkLst>
          <pc:docMk/>
          <pc:sldMk cId="0" sldId="278"/>
        </pc:sldMkLst>
        <pc:graphicFrameChg chg="mod modGraphic">
          <ac:chgData name="Eren Yeager" userId="f8119b3fffea4b0d" providerId="LiveId" clId="{F5FA8F01-EB6F-49E6-B775-A3BBCF9954F5}" dt="2026-07-21T13:46:09.294" v="74" actId="1076"/>
          <ac:graphicFrameMkLst>
            <pc:docMk/>
            <pc:sldMk cId="0" sldId="278"/>
            <ac:graphicFrameMk id="5" creationId="{00000000-0000-0000-0000-000000000000}"/>
          </ac:graphicFrameMkLst>
        </pc:graphicFrameChg>
      </pc:sldChg>
      <pc:sldChg chg="modSp mod">
        <pc:chgData name="Eren Yeager" userId="f8119b3fffea4b0d" providerId="LiveId" clId="{F5FA8F01-EB6F-49E6-B775-A3BBCF9954F5}" dt="2026-07-21T13:44:47.280" v="69" actId="255"/>
        <pc:sldMkLst>
          <pc:docMk/>
          <pc:sldMk cId="0" sldId="279"/>
        </pc:sldMkLst>
        <pc:graphicFrameChg chg="mod modGraphic">
          <ac:chgData name="Eren Yeager" userId="f8119b3fffea4b0d" providerId="LiveId" clId="{F5FA8F01-EB6F-49E6-B775-A3BBCF9954F5}" dt="2026-07-21T13:44:47.280" v="69" actId="255"/>
          <ac:graphicFrameMkLst>
            <pc:docMk/>
            <pc:sldMk cId="0" sldId="279"/>
            <ac:graphicFrameMk id="5" creationId="{00000000-0000-0000-0000-000000000000}"/>
          </ac:graphicFrameMkLst>
        </pc:graphicFrameChg>
      </pc:sldChg>
      <pc:sldChg chg="modSp mod">
        <pc:chgData name="Eren Yeager" userId="f8119b3fffea4b0d" providerId="LiveId" clId="{F5FA8F01-EB6F-49E6-B775-A3BBCF9954F5}" dt="2026-07-21T13:47:52.549" v="79" actId="255"/>
        <pc:sldMkLst>
          <pc:docMk/>
          <pc:sldMk cId="0" sldId="280"/>
        </pc:sldMkLst>
        <pc:spChg chg="mod">
          <ac:chgData name="Eren Yeager" userId="f8119b3fffea4b0d" providerId="LiveId" clId="{F5FA8F01-EB6F-49E6-B775-A3BBCF9954F5}" dt="2026-07-21T13:47:52.549" v="79" actId="255"/>
          <ac:spMkLst>
            <pc:docMk/>
            <pc:sldMk cId="0" sldId="280"/>
            <ac:spMk id="9" creationId="{00000000-0000-0000-0000-000000000000}"/>
          </ac:spMkLst>
        </pc:spChg>
      </pc:sldChg>
      <pc:sldChg chg="modSp mod">
        <pc:chgData name="Eren Yeager" userId="f8119b3fffea4b0d" providerId="LiveId" clId="{F5FA8F01-EB6F-49E6-B775-A3BBCF9954F5}" dt="2026-07-21T13:45:42.317" v="72" actId="1076"/>
        <pc:sldMkLst>
          <pc:docMk/>
          <pc:sldMk cId="0" sldId="281"/>
        </pc:sldMkLst>
        <pc:graphicFrameChg chg="mod modGraphic">
          <ac:chgData name="Eren Yeager" userId="f8119b3fffea4b0d" providerId="LiveId" clId="{F5FA8F01-EB6F-49E6-B775-A3BBCF9954F5}" dt="2026-07-21T13:45:42.317" v="72" actId="1076"/>
          <ac:graphicFrameMkLst>
            <pc:docMk/>
            <pc:sldMk cId="0" sldId="281"/>
            <ac:graphicFrameMk id="5" creationId="{00000000-0000-0000-0000-000000000000}"/>
          </ac:graphicFrameMkLst>
        </pc:graphicFrameChg>
      </pc:sldChg>
      <pc:sldChg chg="modSp mod">
        <pc:chgData name="Eren Yeager" userId="f8119b3fffea4b0d" providerId="LiveId" clId="{F5FA8F01-EB6F-49E6-B775-A3BBCF9954F5}" dt="2026-07-21T13:42:31.185" v="35" actId="1035"/>
        <pc:sldMkLst>
          <pc:docMk/>
          <pc:sldMk cId="0" sldId="282"/>
        </pc:sldMkLst>
        <pc:graphicFrameChg chg="mod">
          <ac:chgData name="Eren Yeager" userId="f8119b3fffea4b0d" providerId="LiveId" clId="{F5FA8F01-EB6F-49E6-B775-A3BBCF9954F5}" dt="2026-07-21T13:42:31.185" v="35" actId="1035"/>
          <ac:graphicFrameMkLst>
            <pc:docMk/>
            <pc:sldMk cId="0" sldId="282"/>
            <ac:graphicFrameMk id="5" creationId="{00000000-0000-0000-0000-000000000000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84315"/>
            <a:ext cx="12034520" cy="5570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7994" y="1350644"/>
            <a:ext cx="11477625" cy="414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94719" y="6463665"/>
            <a:ext cx="21844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44909"/>
            <a:ext cx="12192000" cy="6858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82258" y="4195725"/>
            <a:ext cx="2367089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1" dirty="0">
                <a:solidFill>
                  <a:srgbClr val="FF0000"/>
                </a:solidFill>
                <a:latin typeface="Arial Bold"/>
                <a:ea typeface="Arial Bold"/>
                <a:cs typeface="Arial Bold"/>
                <a:sym typeface="Arial Bold"/>
              </a:rPr>
              <a:t>Team Members: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82258" y="4608475"/>
            <a:ext cx="1460595" cy="1092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850"/>
              </a:lnSpc>
            </a:pPr>
            <a:r>
              <a:rPr lang="en-US" sz="24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Harsath S Mathan P</a:t>
            </a:r>
          </a:p>
          <a:p>
            <a:pPr algn="just">
              <a:lnSpc>
                <a:spcPts val="2850"/>
              </a:lnSpc>
            </a:pPr>
            <a:r>
              <a:rPr lang="en-US" sz="2400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Vikhash</a:t>
            </a:r>
            <a:r>
              <a:rPr lang="en-US" sz="24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J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549346" y="4608475"/>
            <a:ext cx="2708453" cy="1092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850"/>
              </a:lnSpc>
            </a:pPr>
            <a:r>
              <a:rPr lang="en-US" sz="24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621324205019 621324205304 621324205062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100043" y="6377074"/>
            <a:ext cx="1607058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1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Review - 0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83474" y="2460104"/>
            <a:ext cx="2636526" cy="3970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Batch Number: 06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00200" y="3010535"/>
            <a:ext cx="9868229" cy="7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2600"/>
              </a:lnSpc>
            </a:pPr>
            <a:r>
              <a:rPr lang="en-US" sz="20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Smart Medicine Cabinet with Expiry Alerts and Inventory Management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542627" y="4286796"/>
            <a:ext cx="5192173" cy="1092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400" b="1" dirty="0">
                <a:solidFill>
                  <a:srgbClr val="FF0000"/>
                </a:solidFill>
                <a:latin typeface="Arial Bold"/>
                <a:ea typeface="Arial Bold"/>
                <a:cs typeface="Arial Bold"/>
                <a:sym typeface="Arial Bold"/>
              </a:rPr>
              <a:t>Supervisor:</a:t>
            </a:r>
          </a:p>
          <a:p>
            <a:pPr algn="l">
              <a:lnSpc>
                <a:spcPts val="2850"/>
              </a:lnSpc>
            </a:pPr>
            <a:r>
              <a:rPr lang="en-US" sz="24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Mr. R.V. Viswanathan, M.E., (</a:t>
            </a:r>
            <a:r>
              <a:rPr lang="en-US" sz="2400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Ph.D</a:t>
            </a:r>
            <a:r>
              <a:rPr lang="en-US" sz="24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) Assistant Professor / IT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95600" y="1524000"/>
            <a:ext cx="7653547" cy="589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98"/>
              </a:lnSpc>
            </a:pPr>
            <a:r>
              <a:rPr lang="en-US" sz="3300" b="1" dirty="0">
                <a:solidFill>
                  <a:srgbClr val="FFFFFF"/>
                </a:solidFill>
                <a:latin typeface="Arial Black" pitchFamily="34" charset="0"/>
                <a:ea typeface="Canva Sans Bold"/>
                <a:cs typeface="Times New Roman" pitchFamily="18" charset="0"/>
                <a:sym typeface="Canva Sans Bold"/>
              </a:rPr>
              <a:t>24IT504L - MINI PROJECT-I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CE5C7E-B69F-5212-144E-BB01FCB07046}"/>
              </a:ext>
            </a:extLst>
          </p:cNvPr>
          <p:cNvSpPr txBox="1"/>
          <p:nvPr/>
        </p:nvSpPr>
        <p:spPr>
          <a:xfrm>
            <a:off x="6934200" y="6377074"/>
            <a:ext cx="28299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DATE</a:t>
            </a:r>
            <a:r>
              <a:rPr lang="en-US" sz="2000">
                <a:solidFill>
                  <a:schemeClr val="bg1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: 14.07.2026</a:t>
            </a:r>
            <a:endParaRPr lang="en-IN" sz="2000" dirty="0">
              <a:solidFill>
                <a:schemeClr val="bg1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295" rIns="0" bIns="0" rtlCol="0">
            <a:spAutoFit/>
          </a:bodyPr>
          <a:lstStyle/>
          <a:p>
            <a:pPr marL="5225415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solidFill>
                  <a:srgbClr val="FCFCFC"/>
                </a:solidFill>
              </a:rPr>
              <a:t>Contents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2550886"/>
              </p:ext>
            </p:extLst>
          </p:nvPr>
        </p:nvGraphicFramePr>
        <p:xfrm>
          <a:off x="717550" y="765809"/>
          <a:ext cx="10522583" cy="50476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25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73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9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51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b="1" spc="-20" dirty="0">
                          <a:latin typeface="Arial MT"/>
                          <a:cs typeface="Arial" panose="020B0604020202020204"/>
                        </a:rPr>
                        <a:t>S.No</a:t>
                      </a:r>
                      <a:endParaRPr sz="2000">
                        <a:latin typeface="Arial MT"/>
                        <a:cs typeface="Arial" panose="020B0604020202020204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b="1" spc="-20" dirty="0">
                          <a:latin typeface="Arial MT"/>
                          <a:cs typeface="Arial" panose="020B0604020202020204"/>
                        </a:rPr>
                        <a:t>Table</a:t>
                      </a:r>
                      <a:r>
                        <a:rPr sz="2000" b="1" spc="-60" dirty="0">
                          <a:latin typeface="Arial MT"/>
                          <a:cs typeface="Arial" panose="020B0604020202020204"/>
                        </a:rPr>
                        <a:t> </a:t>
                      </a:r>
                      <a:r>
                        <a:rPr sz="2000" b="1" dirty="0">
                          <a:latin typeface="Arial MT"/>
                          <a:cs typeface="Arial" panose="020B0604020202020204"/>
                        </a:rPr>
                        <a:t>Of</a:t>
                      </a:r>
                      <a:r>
                        <a:rPr sz="2000" b="1" spc="-55" dirty="0">
                          <a:latin typeface="Arial MT"/>
                          <a:cs typeface="Arial" panose="020B0604020202020204"/>
                        </a:rPr>
                        <a:t> </a:t>
                      </a:r>
                      <a:r>
                        <a:rPr sz="2000" b="1" spc="-10" dirty="0">
                          <a:latin typeface="Arial MT"/>
                          <a:cs typeface="Arial" panose="020B0604020202020204"/>
                        </a:rPr>
                        <a:t>Contents</a:t>
                      </a:r>
                      <a:endParaRPr sz="2000">
                        <a:latin typeface="Arial MT"/>
                        <a:cs typeface="Arial" panose="020B0604020202020204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b="1" dirty="0">
                          <a:latin typeface="Arial MT"/>
                          <a:cs typeface="Arial" panose="020B0604020202020204"/>
                        </a:rPr>
                        <a:t>Page</a:t>
                      </a:r>
                      <a:r>
                        <a:rPr sz="2000" b="1" spc="-60" dirty="0">
                          <a:latin typeface="Arial MT"/>
                          <a:cs typeface="Arial" panose="020B0604020202020204"/>
                        </a:rPr>
                        <a:t> </a:t>
                      </a:r>
                      <a:r>
                        <a:rPr sz="2000" b="1" spc="-25" dirty="0">
                          <a:latin typeface="Arial MT"/>
                          <a:cs typeface="Arial" panose="020B0604020202020204"/>
                        </a:rPr>
                        <a:t>No</a:t>
                      </a:r>
                      <a:endParaRPr sz="2000">
                        <a:latin typeface="Arial MT"/>
                        <a:cs typeface="Arial" panose="020B0604020202020204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7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Project</a:t>
                      </a:r>
                      <a:r>
                        <a:rPr sz="18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Title</a:t>
                      </a:r>
                      <a:r>
                        <a:rPr lang="en-US" sz="1800" spc="-20" dirty="0">
                          <a:latin typeface="Arial MT"/>
                          <a:cs typeface="Arial MT"/>
                        </a:rPr>
                        <a:t> &amp; </a:t>
                      </a:r>
                      <a:r>
                        <a:rPr lang="en-IN" sz="1800" dirty="0">
                          <a:latin typeface="Arial MT"/>
                          <a:cs typeface="Arial MT"/>
                        </a:rPr>
                        <a:t>Type</a:t>
                      </a:r>
                      <a:r>
                        <a:rPr lang="en-IN" sz="18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lang="en-IN" sz="18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lang="en-IN" sz="18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lang="en-IN" sz="1800" spc="-10" dirty="0">
                          <a:latin typeface="Arial MT"/>
                          <a:cs typeface="Arial MT"/>
                        </a:rPr>
                        <a:t>Project</a:t>
                      </a:r>
                      <a:endParaRPr lang="en-IN" sz="1800" dirty="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3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7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n-US" sz="1800" spc="-50" dirty="0">
                          <a:latin typeface="Arial MT"/>
                          <a:cs typeface="Arial MT"/>
                        </a:rPr>
                        <a:t>2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Existing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Solutions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4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n-US" sz="1800" spc="-50" dirty="0">
                          <a:latin typeface="Arial MT"/>
                          <a:cs typeface="Arial MT"/>
                        </a:rPr>
                        <a:t>3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Motivation</a:t>
                      </a:r>
                      <a:r>
                        <a:rPr sz="1800" spc="-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8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Gap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9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n-US" sz="1800" spc="-50" dirty="0">
                          <a:latin typeface="Arial MT"/>
                          <a:cs typeface="Arial MT"/>
                        </a:rPr>
                        <a:t>4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Project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Requirements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10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n-US" sz="1800" spc="-50" dirty="0">
                          <a:latin typeface="Arial MT"/>
                          <a:cs typeface="Arial MT"/>
                        </a:rPr>
                        <a:t>5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Objectives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6329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n-US" sz="1800" spc="-25" dirty="0">
                          <a:latin typeface="Arial MT"/>
                          <a:cs typeface="Arial MT"/>
                        </a:rPr>
                        <a:t>               13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n-US" sz="1800" spc="-50" dirty="0">
                          <a:latin typeface="Arial MT"/>
                          <a:cs typeface="Arial MT"/>
                        </a:rPr>
                        <a:t>6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Expected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Outcomes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504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n-US" sz="1800" spc="-25" dirty="0">
                          <a:latin typeface="Arial MT"/>
                          <a:cs typeface="Arial MT"/>
                        </a:rPr>
                        <a:t>             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14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27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n-US" sz="1800" spc="-50" dirty="0">
                          <a:latin typeface="Arial MT"/>
                          <a:cs typeface="Arial MT"/>
                        </a:rPr>
                        <a:t>7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SDG</a:t>
                      </a:r>
                      <a:r>
                        <a:rPr sz="1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Number,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Global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Challenges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Its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Justification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504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n-US" sz="1800" spc="-25" dirty="0">
                          <a:latin typeface="Arial MT"/>
                          <a:cs typeface="Arial MT"/>
                        </a:rPr>
                        <a:t>             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15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14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n-US" sz="1800" spc="-50" dirty="0">
                          <a:latin typeface="Arial MT"/>
                          <a:cs typeface="Arial MT"/>
                        </a:rPr>
                        <a:t>8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Project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Domain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Mapping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with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Pos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/PSOs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with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Justification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504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n-US" sz="1800" spc="-25" dirty="0">
                          <a:latin typeface="Arial MT"/>
                          <a:cs typeface="Arial MT"/>
                        </a:rPr>
                        <a:t>             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16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marR="52768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n-US" sz="1800" spc="-25" dirty="0">
                          <a:latin typeface="Arial MT"/>
                          <a:cs typeface="Arial MT"/>
                        </a:rPr>
                        <a:t>        9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Conclusion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504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n-US" sz="1800" spc="-25" dirty="0">
                          <a:latin typeface="Arial MT"/>
                          <a:cs typeface="Arial MT"/>
                        </a:rPr>
                        <a:t>             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17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2755">
                <a:tc>
                  <a:txBody>
                    <a:bodyPr/>
                    <a:lstStyle/>
                    <a:p>
                      <a:pPr marR="52768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n-US" sz="1800" spc="-25">
                          <a:latin typeface="Arial MT"/>
                          <a:cs typeface="Arial MT"/>
                        </a:rPr>
                        <a:t>        </a:t>
                      </a:r>
                      <a:r>
                        <a:rPr sz="1800" spc="-25">
                          <a:latin typeface="Arial MT"/>
                          <a:cs typeface="Arial MT"/>
                        </a:rPr>
                        <a:t>1</a:t>
                      </a:r>
                      <a:r>
                        <a:rPr lang="en-US" sz="1800" spc="-25">
                          <a:latin typeface="Arial MT"/>
                          <a:cs typeface="Arial MT"/>
                        </a:rPr>
                        <a:t>0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References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504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n-US" sz="1800" spc="-25" dirty="0">
                          <a:latin typeface="Arial MT"/>
                          <a:cs typeface="Arial MT"/>
                        </a:rPr>
                        <a:t>             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18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A11DB1-9423-87E0-FFCD-E540BAA0382D}"/>
              </a:ext>
            </a:extLst>
          </p:cNvPr>
          <p:cNvSpPr txBox="1"/>
          <p:nvPr/>
        </p:nvSpPr>
        <p:spPr>
          <a:xfrm>
            <a:off x="990600" y="6376851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2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019" rIns="0" bIns="0" rtlCol="0">
            <a:spAutoFit/>
          </a:bodyPr>
          <a:lstStyle/>
          <a:p>
            <a:pPr marL="2929890">
              <a:lnSpc>
                <a:spcPct val="100000"/>
              </a:lnSpc>
              <a:spcBef>
                <a:spcPts val="105"/>
              </a:spcBef>
            </a:pPr>
            <a:r>
              <a:rPr lang="en-US" sz="3200" dirty="0">
                <a:solidFill>
                  <a:srgbClr val="FCFCFC"/>
                </a:solidFill>
              </a:rPr>
              <a:t>1.</a:t>
            </a:r>
            <a:r>
              <a:rPr sz="3200" dirty="0">
                <a:solidFill>
                  <a:srgbClr val="FCFCFC"/>
                </a:solidFill>
              </a:rPr>
              <a:t>Project</a:t>
            </a:r>
            <a:r>
              <a:rPr sz="3200" spc="-70" dirty="0">
                <a:solidFill>
                  <a:srgbClr val="FCFCFC"/>
                </a:solidFill>
              </a:rPr>
              <a:t> </a:t>
            </a:r>
            <a:r>
              <a:rPr sz="3200" dirty="0">
                <a:solidFill>
                  <a:srgbClr val="FCFCFC"/>
                </a:solidFill>
              </a:rPr>
              <a:t>Title</a:t>
            </a:r>
            <a:r>
              <a:rPr sz="3200" spc="-65" dirty="0">
                <a:solidFill>
                  <a:srgbClr val="FCFCFC"/>
                </a:solidFill>
              </a:rPr>
              <a:t> </a:t>
            </a:r>
            <a:r>
              <a:rPr sz="3200" dirty="0">
                <a:solidFill>
                  <a:srgbClr val="FCFCFC"/>
                </a:solidFill>
              </a:rPr>
              <a:t>and</a:t>
            </a:r>
            <a:r>
              <a:rPr sz="3200" spc="-70" dirty="0">
                <a:solidFill>
                  <a:srgbClr val="FCFCFC"/>
                </a:solidFill>
              </a:rPr>
              <a:t> </a:t>
            </a:r>
            <a:r>
              <a:rPr sz="3200" spc="-20" dirty="0">
                <a:solidFill>
                  <a:srgbClr val="FCFCFC"/>
                </a:solidFill>
              </a:rPr>
              <a:t>Type</a:t>
            </a:r>
            <a:r>
              <a:rPr sz="3200" spc="-65" dirty="0">
                <a:solidFill>
                  <a:srgbClr val="FCFCFC"/>
                </a:solidFill>
              </a:rPr>
              <a:t> </a:t>
            </a:r>
            <a:r>
              <a:rPr sz="3200" dirty="0">
                <a:solidFill>
                  <a:srgbClr val="FCFCFC"/>
                </a:solidFill>
              </a:rPr>
              <a:t>of</a:t>
            </a:r>
            <a:r>
              <a:rPr sz="3200" spc="-70" dirty="0">
                <a:solidFill>
                  <a:srgbClr val="FCFCFC"/>
                </a:solidFill>
              </a:rPr>
              <a:t> </a:t>
            </a:r>
            <a:r>
              <a:rPr sz="3200" spc="-10" dirty="0">
                <a:solidFill>
                  <a:srgbClr val="FCFCFC"/>
                </a:solidFill>
              </a:rPr>
              <a:t>Project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1245869" y="1583816"/>
            <a:ext cx="9775825" cy="3498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50000"/>
              </a:lnSpc>
              <a:spcBef>
                <a:spcPts val="100"/>
              </a:spcBef>
            </a:pPr>
            <a:r>
              <a:rPr sz="3200" dirty="0">
                <a:latin typeface="Arial MT"/>
                <a:cs typeface="Arial MT"/>
              </a:rPr>
              <a:t>Smart Medicine Cabinet with Expiry Alerts and Inventory Management</a:t>
            </a:r>
          </a:p>
          <a:p>
            <a:pPr>
              <a:lnSpc>
                <a:spcPct val="100000"/>
              </a:lnSpc>
            </a:pPr>
            <a:endParaRPr sz="3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3200" dirty="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3200" b="1" spc="-20" dirty="0">
                <a:latin typeface="Arial MT"/>
                <a:cs typeface="Arial" panose="020B0604020202020204"/>
              </a:rPr>
              <a:t>Type</a:t>
            </a:r>
            <a:r>
              <a:rPr sz="3200" b="1" spc="-50" dirty="0">
                <a:latin typeface="Arial MT"/>
                <a:cs typeface="Arial" panose="020B0604020202020204"/>
              </a:rPr>
              <a:t> </a:t>
            </a:r>
            <a:r>
              <a:rPr sz="3200" b="1" dirty="0">
                <a:latin typeface="Arial MT"/>
                <a:cs typeface="Arial" panose="020B0604020202020204"/>
              </a:rPr>
              <a:t>Of</a:t>
            </a:r>
            <a:r>
              <a:rPr sz="3200" b="1" spc="-45" dirty="0">
                <a:latin typeface="Arial MT"/>
                <a:cs typeface="Arial" panose="020B0604020202020204"/>
              </a:rPr>
              <a:t> </a:t>
            </a:r>
            <a:r>
              <a:rPr sz="3200" b="1" dirty="0">
                <a:latin typeface="Arial MT"/>
                <a:cs typeface="Arial" panose="020B0604020202020204"/>
              </a:rPr>
              <a:t>Project</a:t>
            </a:r>
            <a:r>
              <a:rPr sz="3200" b="1" spc="-50" dirty="0">
                <a:latin typeface="Arial MT"/>
                <a:cs typeface="Arial" panose="020B0604020202020204"/>
              </a:rPr>
              <a:t> </a:t>
            </a:r>
            <a:r>
              <a:rPr sz="3200" b="1" dirty="0">
                <a:latin typeface="Arial MT"/>
                <a:cs typeface="Arial" panose="020B0604020202020204"/>
              </a:rPr>
              <a:t>:</a:t>
            </a:r>
            <a:r>
              <a:rPr sz="3200" b="1" spc="-45" dirty="0">
                <a:latin typeface="Arial MT"/>
                <a:cs typeface="Arial" panose="020B0604020202020204"/>
              </a:rPr>
              <a:t> </a:t>
            </a:r>
            <a:r>
              <a:rPr sz="3200" dirty="0">
                <a:latin typeface="Arial MT"/>
                <a:cs typeface="Arial MT"/>
              </a:rPr>
              <a:t>Product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/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Embedded Hardware (IoT)</a:t>
            </a:r>
            <a:endParaRPr sz="3200" dirty="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6DBD58-125D-3146-D589-686E5D6857D9}"/>
              </a:ext>
            </a:extLst>
          </p:cNvPr>
          <p:cNvSpPr txBox="1"/>
          <p:nvPr/>
        </p:nvSpPr>
        <p:spPr>
          <a:xfrm>
            <a:off x="762000" y="6324600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3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7970" y="179070"/>
            <a:ext cx="1181735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altLang="en-US" sz="3200" b="1" dirty="0">
                <a:solidFill>
                  <a:srgbClr val="FDFDFD"/>
                </a:solidFill>
                <a:latin typeface="Arial" panose="020B0604020202020204" pitchFamily="34" charset="0"/>
                <a:ea typeface="Montserrat Classic"/>
                <a:cs typeface="Arial" panose="020B0604020202020204" pitchFamily="34" charset="0"/>
                <a:sym typeface="Montserrat Classic"/>
              </a:rPr>
              <a:t>2.Literature Survey</a:t>
            </a:r>
            <a:endParaRPr lang="en-IN" altLang="en-US" sz="3200" b="1" dirty="0">
              <a:solidFill>
                <a:srgbClr val="FDFDFD"/>
              </a:solidFill>
              <a:latin typeface="Arial" panose="020B0604020202020204" pitchFamily="34" charset="0"/>
              <a:ea typeface="Montserrat Classic"/>
              <a:cs typeface="Arial" panose="020B0604020202020204" pitchFamily="34" charset="0"/>
            </a:endParaRPr>
          </a:p>
        </p:txBody>
      </p:sp>
      <p:graphicFrame>
        <p:nvGraphicFramePr>
          <p:cNvPr id="8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0520938"/>
              </p:ext>
            </p:extLst>
          </p:nvPr>
        </p:nvGraphicFramePr>
        <p:xfrm>
          <a:off x="204692" y="1187919"/>
          <a:ext cx="11852275" cy="5101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96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84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02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rgbClr val="FFFF00"/>
                          </a:solidFill>
                          <a:latin typeface="Arial MT"/>
                          <a:ea typeface="Times New Roman" panose="02020603050405020304"/>
                          <a:cs typeface="Arial" panose="020B0604020202020204" pitchFamily="34" charset="0"/>
                        </a:rPr>
                        <a:t>S-No</a:t>
                      </a: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 MT"/>
                          <a:ea typeface="Times New Roman" panose="02020603050405020304"/>
                          <a:cs typeface="Arial" panose="020B0604020202020204" pitchFamily="34" charset="0"/>
                        </a:rPr>
                        <a:t>Author &amp; Year of Publication </a:t>
                      </a:r>
                      <a:endParaRPr lang="en-US" sz="1300" dirty="0">
                        <a:solidFill>
                          <a:srgbClr val="FFFF00"/>
                        </a:solidFill>
                        <a:latin typeface="Arial MT"/>
                        <a:ea typeface="Times New Roman" panose="02020603050405020304"/>
                        <a:cs typeface="Arial" panose="020B0604020202020204" pitchFamily="34" charset="0"/>
                      </a:endParaRP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 MT"/>
                          <a:ea typeface="Times New Roman" panose="02020603050405020304"/>
                          <a:cs typeface="Arial" panose="020B0604020202020204" pitchFamily="34" charset="0"/>
                        </a:rPr>
                        <a:t>Journal </a:t>
                      </a:r>
                      <a:endParaRPr lang="en-US" sz="1300" dirty="0">
                        <a:solidFill>
                          <a:srgbClr val="FFFF00"/>
                        </a:solidFill>
                        <a:latin typeface="Arial MT"/>
                        <a:ea typeface="Times New Roman" panose="02020603050405020304"/>
                        <a:cs typeface="Arial" panose="020B0604020202020204" pitchFamily="34" charset="0"/>
                      </a:endParaRP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 MT"/>
                          <a:ea typeface="Times New Roman" panose="02020603050405020304"/>
                          <a:cs typeface="Arial" panose="020B0604020202020204" pitchFamily="34" charset="0"/>
                        </a:rPr>
                        <a:t>Title of the     paper</a:t>
                      </a:r>
                      <a:endParaRPr lang="en-US" sz="1300" dirty="0">
                        <a:solidFill>
                          <a:srgbClr val="FFFF00"/>
                        </a:solidFill>
                        <a:latin typeface="Arial MT"/>
                        <a:ea typeface="Times New Roman" panose="02020603050405020304"/>
                        <a:cs typeface="Arial" panose="020B0604020202020204" pitchFamily="34" charset="0"/>
                      </a:endParaRP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rgbClr val="FFFF00"/>
                          </a:solidFill>
                          <a:latin typeface="Arial MT"/>
                          <a:ea typeface="Times New Roman" panose="02020603050405020304"/>
                          <a:cs typeface="Arial" panose="020B0604020202020204" pitchFamily="34" charset="0"/>
                        </a:rPr>
                        <a:t>Advantages &amp;</a:t>
                      </a: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 MT"/>
                          <a:ea typeface="Times New Roman" panose="02020603050405020304"/>
                          <a:cs typeface="Arial" panose="020B0604020202020204" pitchFamily="34" charset="0"/>
                        </a:rPr>
                        <a:t>Limitations</a:t>
                      </a:r>
                    </a:p>
                  </a:txBody>
                  <a:tcPr marL="59010" marR="59010" marT="4926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8207">
                <a:tc>
                  <a:txBody>
                    <a:bodyPr/>
                    <a:lstStyle/>
                    <a:p>
                      <a:pPr marL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600" b="0" i="0" u="none" strike="noStrike" dirty="0" err="1">
                          <a:solidFill>
                            <a:schemeClr val="dk1"/>
                          </a:solidFill>
                          <a:effectLst/>
                          <a:latin typeface="Arial MT"/>
                          <a:ea typeface="+mn-ea"/>
                          <a:cs typeface="+mn-cs"/>
                        </a:rPr>
                        <a:t>Sushma Shekhar</a:t>
                      </a:r>
                      <a:r>
                        <a:rPr lang="en-IN" sz="1600" b="0" i="0" u="none" strike="noStrike" dirty="0">
                          <a:solidFill>
                            <a:schemeClr val="dk1"/>
                          </a:solidFill>
                          <a:effectLst/>
                          <a:latin typeface="Arial MT"/>
                          <a:ea typeface="+mn-ea"/>
                          <a:cs typeface="+mn-cs"/>
                        </a:rPr>
                        <a:t> Kumbar</a:t>
                      </a:r>
                      <a:r>
                        <a:rPr lang="en-US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IN" sz="1600" b="0" i="0" u="none" strike="noStrike" dirty="0">
                          <a:solidFill>
                            <a:schemeClr val="dk1"/>
                          </a:solidFill>
                          <a:effectLst/>
                          <a:latin typeface="Arial MT"/>
                          <a:ea typeface="+mn-ea"/>
                          <a:cs typeface="+mn-cs"/>
                        </a:rPr>
                        <a:t>Geeta R Bharamagoudar, Shahikumar G Totad</a:t>
                      </a:r>
                      <a:r>
                        <a:rPr lang="en-IN" sz="1600" b="1" i="0" u="none" strike="noStrike" dirty="0">
                          <a:solidFill>
                            <a:schemeClr val="dk1"/>
                          </a:solidFill>
                          <a:effectLst/>
                          <a:latin typeface="Arial MT"/>
                          <a:ea typeface="+mn-ea"/>
                          <a:cs typeface="+mn-cs"/>
                        </a:rPr>
                        <a:t>,</a:t>
                      </a:r>
                      <a:r>
                        <a:rPr lang="en-US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 (2026)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>
                          <a:effectLst/>
                          <a:latin typeface="Arial MT"/>
                          <a:cs typeface="Arial" panose="020B0604020202020204" pitchFamily="34" charset="0"/>
                        </a:rPr>
                        <a:t>IEEE Access</a:t>
                      </a:r>
                      <a:endParaRPr lang="en-US" altLang="en-US" sz="1600" b="0" i="0" dirty="0">
                        <a:effectLst/>
                        <a:latin typeface="Arial MT"/>
                        <a:cs typeface="Arial" panose="020B0604020202020204" pitchFamily="34" charset="0"/>
                      </a:endParaRP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Smart Medicine Alert Kit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anose="05000000000000000000" charset="0"/>
                        <a:buChar char="v"/>
                      </a:pPr>
                      <a:r>
                        <a:rPr lang="en-US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Presents an IoT-based Smart Medicine Alert Kit that issues scheduled notifications reminding patients to take the correct medicine on time.</a:t>
                      </a:r>
                    </a:p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anose="05000000000000000000" charset="0"/>
                        <a:buChar char="v"/>
                      </a:pPr>
                      <a:r>
                        <a:rPr lang="en-US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Focuses on medication-time alerting only; does not address expiry-date tracking or stock-level/inventory management.</a:t>
                      </a:r>
                    </a:p>
                  </a:txBody>
                  <a:tcPr marL="0" marR="0" marT="76200" marB="762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1012">
                <a:tc>
                  <a:txBody>
                    <a:bodyPr/>
                    <a:lstStyle/>
                    <a:p>
                      <a:pPr marL="0" algn="ctr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just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IN" sz="1600" b="0" i="0" dirty="0">
                          <a:solidFill>
                            <a:schemeClr val="dk1"/>
                          </a:solidFill>
                          <a:effectLst/>
                          <a:latin typeface="Arial MT"/>
                          <a:ea typeface="+mn-ea"/>
                          <a:cs typeface="+mn-cs"/>
                        </a:rPr>
                        <a:t>Dhananjay Satanure, Siddhant Kamlaskar, Yogita Vaidya, </a:t>
                      </a:r>
                      <a:r>
                        <a:rPr lang="en-IN" sz="1600" b="0" i="0" dirty="0" err="1">
                          <a:solidFill>
                            <a:schemeClr val="dk1"/>
                          </a:solidFill>
                          <a:effectLst/>
                          <a:latin typeface="Arial MT"/>
                          <a:ea typeface="+mn-ea"/>
                          <a:cs typeface="+mn-cs"/>
                        </a:rPr>
                        <a:t>Shilpa Metkar</a:t>
                      </a:r>
                      <a:r>
                        <a:rPr lang="en-IN" sz="1600" b="0" i="0" dirty="0">
                          <a:solidFill>
                            <a:schemeClr val="dk1"/>
                          </a:solidFill>
                          <a:effectLst/>
                          <a:latin typeface="Arial MT"/>
                          <a:ea typeface="+mn-ea"/>
                          <a:cs typeface="+mn-cs"/>
                        </a:rPr>
                        <a:t>, (</a:t>
                      </a:r>
                      <a:r>
                        <a:rPr lang="en-US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2025)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IEEE Access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indent="0" algn="just" fontAlgn="auto">
                        <a:lnSpc>
                          <a:spcPct val="97000"/>
                        </a:lnSpc>
                        <a:spcBef>
                          <a:spcPts val="1200"/>
                        </a:spcBef>
                        <a:spcAft>
                          <a:spcPts val="14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 err="1">
                          <a:effectLst/>
                          <a:latin typeface="Arial MT"/>
                          <a:cs typeface="Arial" panose="020B0604020202020204" pitchFamily="34" charset="0"/>
                        </a:rPr>
                        <a:t>Design and Implementation of a Smart Medicine Reminder Kit for Elderly Care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anose="05000000000000000000" charset="0"/>
                        <a:buChar char="v"/>
                      </a:pPr>
                      <a:r>
                        <a:rPr lang="en-US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Integrates an ESP32 microcontroller with a SIM900A GSM module to deliver phone-call medication reminders alongside dual LED/buzzer alerts, with a mobile app letting caregivers set schedules.</a:t>
                      </a:r>
                    </a:p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anose="05000000000000000000" charset="0"/>
                        <a:buChar char="v"/>
                      </a:pPr>
                      <a:r>
                        <a:rPr lang="en-US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Focused solely on medication-time reminders for elderly users; does not track medicine expiry dates or maintain a stock/inventory count.</a:t>
                      </a:r>
                    </a:p>
                  </a:txBody>
                  <a:tcPr marL="0" marR="0" marT="76200" marB="76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83364EA-A978-BE8A-AFB7-2E8D93074C2A}"/>
              </a:ext>
            </a:extLst>
          </p:cNvPr>
          <p:cNvSpPr txBox="1"/>
          <p:nvPr/>
        </p:nvSpPr>
        <p:spPr>
          <a:xfrm>
            <a:off x="762000" y="6316686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4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3687565"/>
              </p:ext>
            </p:extLst>
          </p:nvPr>
        </p:nvGraphicFramePr>
        <p:xfrm>
          <a:off x="225028" y="844757"/>
          <a:ext cx="11741944" cy="5468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0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13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73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64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81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428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rgbClr val="FFFF00"/>
                          </a:solidFill>
                          <a:latin typeface="Arial MT"/>
                          <a:ea typeface="Times New Roman" panose="02020603050405020304"/>
                          <a:cs typeface="Arial" panose="020B0604020202020204" pitchFamily="34" charset="0"/>
                        </a:rPr>
                        <a:t>S-No</a:t>
                      </a: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 MT"/>
                          <a:ea typeface="Times New Roman" panose="02020603050405020304"/>
                          <a:cs typeface="Arial" panose="020B0604020202020204" pitchFamily="34" charset="0"/>
                        </a:rPr>
                        <a:t>Author &amp; Year of Publication </a:t>
                      </a:r>
                      <a:endParaRPr lang="en-US" sz="1300" dirty="0">
                        <a:solidFill>
                          <a:srgbClr val="FFFF00"/>
                        </a:solidFill>
                        <a:latin typeface="Arial MT"/>
                        <a:ea typeface="Times New Roman" panose="02020603050405020304"/>
                        <a:cs typeface="Arial" panose="020B0604020202020204" pitchFamily="34" charset="0"/>
                      </a:endParaRP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 MT"/>
                          <a:ea typeface="Times New Roman" panose="02020603050405020304"/>
                          <a:cs typeface="Arial" panose="020B0604020202020204" pitchFamily="34" charset="0"/>
                        </a:rPr>
                        <a:t>Journal </a:t>
                      </a:r>
                      <a:endParaRPr lang="en-US" sz="1300" dirty="0">
                        <a:solidFill>
                          <a:srgbClr val="FFFF00"/>
                        </a:solidFill>
                        <a:latin typeface="Arial MT"/>
                        <a:ea typeface="Times New Roman" panose="02020603050405020304"/>
                        <a:cs typeface="Arial" panose="020B0604020202020204" pitchFamily="34" charset="0"/>
                      </a:endParaRP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 MT"/>
                          <a:ea typeface="Times New Roman" panose="02020603050405020304"/>
                          <a:cs typeface="Arial" panose="020B0604020202020204" pitchFamily="34" charset="0"/>
                        </a:rPr>
                        <a:t>Title of the     paper</a:t>
                      </a:r>
                      <a:endParaRPr lang="en-US" sz="1300" dirty="0">
                        <a:solidFill>
                          <a:srgbClr val="FFFF00"/>
                        </a:solidFill>
                        <a:latin typeface="Arial MT"/>
                        <a:ea typeface="Times New Roman" panose="02020603050405020304"/>
                        <a:cs typeface="Arial" panose="020B0604020202020204" pitchFamily="34" charset="0"/>
                      </a:endParaRP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rgbClr val="FFFF00"/>
                          </a:solidFill>
                          <a:latin typeface="Arial MT"/>
                          <a:ea typeface="Times New Roman" panose="02020603050405020304"/>
                          <a:cs typeface="Arial" panose="020B0604020202020204" pitchFamily="34" charset="0"/>
                        </a:rPr>
                        <a:t>Advantages &amp;</a:t>
                      </a: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 MT"/>
                          <a:ea typeface="Times New Roman" panose="02020603050405020304"/>
                          <a:cs typeface="Arial" panose="020B0604020202020204" pitchFamily="34" charset="0"/>
                        </a:rPr>
                        <a:t>Limitations</a:t>
                      </a:r>
                    </a:p>
                  </a:txBody>
                  <a:tcPr marL="59010" marR="59010" marT="4926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1815">
                <a:tc>
                  <a:txBody>
                    <a:bodyPr/>
                    <a:lstStyle/>
                    <a:p>
                      <a:pPr marL="0" algn="ctr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just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IN" sz="1600" b="0" i="0" u="none" strike="noStrike" dirty="0">
                          <a:solidFill>
                            <a:schemeClr val="dk1"/>
                          </a:solidFill>
                          <a:effectLst/>
                          <a:latin typeface="Arial MT"/>
                          <a:ea typeface="+mn-ea"/>
                          <a:cs typeface="+mn-cs"/>
                        </a:rPr>
                        <a:t>Chetan </a:t>
                      </a:r>
                      <a:r>
                        <a:rPr lang="en-IN" sz="1600" b="0" i="0" u="none" strike="noStrike" dirty="0" err="1">
                          <a:solidFill>
                            <a:schemeClr val="dk1"/>
                          </a:solidFill>
                          <a:effectLst/>
                          <a:latin typeface="Arial MT"/>
                          <a:ea typeface="+mn-ea"/>
                          <a:cs typeface="+mn-cs"/>
                        </a:rPr>
                        <a:t>Awari</a:t>
                      </a:r>
                      <a:r>
                        <a:rPr lang="en-IN" sz="1600" b="0" i="0" u="none" strike="noStrike" dirty="0">
                          <a:solidFill>
                            <a:schemeClr val="dk1"/>
                          </a:solidFill>
                          <a:effectLst/>
                          <a:latin typeface="Arial MT"/>
                          <a:ea typeface="+mn-ea"/>
                          <a:cs typeface="+mn-cs"/>
                        </a:rPr>
                        <a:t>, </a:t>
                      </a:r>
                      <a:r>
                        <a:rPr lang="en-IN" sz="1600" b="0" i="0" u="none" strike="noStrike" dirty="0" err="1">
                          <a:solidFill>
                            <a:schemeClr val="dk1"/>
                          </a:solidFill>
                          <a:effectLst/>
                          <a:latin typeface="Arial MT"/>
                          <a:ea typeface="+mn-ea"/>
                          <a:cs typeface="+mn-cs"/>
                        </a:rPr>
                        <a:t>Akashprasad</a:t>
                      </a:r>
                      <a:r>
                        <a:rPr lang="en-IN" sz="1600" b="0" i="0" u="none" strike="noStrike" dirty="0">
                          <a:solidFill>
                            <a:schemeClr val="dk1"/>
                          </a:solidFill>
                          <a:effectLst/>
                          <a:latin typeface="Arial MT"/>
                          <a:ea typeface="+mn-ea"/>
                          <a:cs typeface="+mn-cs"/>
                        </a:rPr>
                        <a:t> Yadav, Madhuri Sahu ,(</a:t>
                      </a:r>
                      <a:r>
                        <a:rPr lang="en-US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2025)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7000"/>
                        </a:lnSpc>
                        <a:spcBef>
                          <a:spcPts val="1200"/>
                        </a:spcBef>
                        <a:spcAft>
                          <a:spcPts val="14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IEEE Access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Wingdings" panose="05000000000000000000" charset="0"/>
                        <a:buNone/>
                        <a:tabLst/>
                        <a:defRPr/>
                      </a:pPr>
                      <a:r>
                        <a:rPr lang="en-US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AI-Integrated Smart Medicine Dispenser with IoT Connectivity</a:t>
                      </a:r>
                    </a:p>
                    <a:p>
                      <a:pPr marL="0" indent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anose="05000000000000000000" charset="0"/>
                        <a:buNone/>
                      </a:pPr>
                      <a:endParaRPr lang="en-US" altLang="en-US" sz="1600" b="0" i="0" dirty="0">
                        <a:effectLst/>
                        <a:latin typeface="Arial MT"/>
                        <a:cs typeface="Arial" panose="020B0604020202020204" pitchFamily="34" charset="0"/>
                      </a:endParaRP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anose="05000000000000000000" charset="0"/>
                        <a:buChar char="v"/>
                      </a:pPr>
                      <a:r>
                        <a:rPr lang="en-US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Uses QR-code logging with a Firebase real-time database, reaching 96% alert accuracy and cutting dosing errors by up to 98%.</a:t>
                      </a:r>
                    </a:p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anose="05000000000000000000" charset="0"/>
                        <a:buChar char="v"/>
                      </a:pPr>
                      <a:r>
                        <a:rPr lang="en-US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Designed for hospital bedside dispensing rather than compact home or pharmacy cabinet inventory.</a:t>
                      </a:r>
                    </a:p>
                    <a:p>
                      <a:endParaRPr lang="en-IN" dirty="0">
                        <a:latin typeface="Arial M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8781">
                <a:tc>
                  <a:txBody>
                    <a:bodyPr/>
                    <a:lstStyle/>
                    <a:p>
                      <a:pPr marL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IN" sz="1600" b="0" i="0" u="none" strike="noStrike" dirty="0" err="1">
                          <a:solidFill>
                            <a:schemeClr val="dk1"/>
                          </a:solidFill>
                          <a:effectLst/>
                          <a:latin typeface="Arial MT"/>
                          <a:ea typeface="+mn-ea"/>
                          <a:cs typeface="+mn-cs"/>
                        </a:rPr>
                        <a:t>Carrighan</a:t>
                      </a:r>
                      <a:r>
                        <a:rPr lang="en-IN" sz="1600" b="0" i="0" u="none" strike="noStrike" dirty="0">
                          <a:solidFill>
                            <a:schemeClr val="dk1"/>
                          </a:solidFill>
                          <a:effectLst/>
                          <a:latin typeface="Arial MT"/>
                          <a:ea typeface="+mn-ea"/>
                          <a:cs typeface="+mn-cs"/>
                        </a:rPr>
                        <a:t> G. Brittain</a:t>
                      </a:r>
                      <a:r>
                        <a:rPr lang="en-US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IN" sz="1600" b="0" i="0" u="none" strike="noStrike" dirty="0">
                          <a:solidFill>
                            <a:schemeClr val="dk1"/>
                          </a:solidFill>
                          <a:effectLst/>
                          <a:latin typeface="Arial MT"/>
                          <a:ea typeface="+mn-ea"/>
                          <a:cs typeface="+mn-cs"/>
                        </a:rPr>
                        <a:t>Isabela Guilarte Lau, Avery L. Jones,</a:t>
                      </a:r>
                      <a:r>
                        <a:rPr lang="en-US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 (2024)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IEEE Access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Application of RFID Inventory Tracking Technology in the Hospital Pharmacy Setting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anose="05000000000000000000" charset="0"/>
                        <a:buChar char="v"/>
                      </a:pPr>
                      <a:r>
                        <a:rPr lang="en-US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Fixed dual-antenna RFID reader (up to 1,100 tags/sec) enables fast, semi-automated batch inventory counting of medicine vials.</a:t>
                      </a:r>
                    </a:p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anose="05000000000000000000" charset="0"/>
                        <a:buChar char="v"/>
                      </a:pPr>
                      <a:r>
                        <a:rPr lang="en-US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Single-antenna handheld readings were</a:t>
                      </a:r>
                      <a:r>
                        <a:rPr lang="en-IN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  </a:t>
                      </a:r>
                      <a:r>
                        <a:rPr lang="en-US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not accurate enough for reliable use, requiring costlier fixed-reader hardware.</a:t>
                      </a:r>
                    </a:p>
                  </a:txBody>
                  <a:tcPr marL="0" marR="0" marT="76200" marB="76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1015" y="178435"/>
            <a:ext cx="301815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altLang="en-US" sz="2800" b="1" dirty="0">
                <a:solidFill>
                  <a:srgbClr val="FDFDFD"/>
                </a:solidFill>
                <a:latin typeface="Arial" panose="020B0604020202020204" pitchFamily="34" charset="0"/>
                <a:ea typeface="Montserrat Classic"/>
                <a:cs typeface="Arial" panose="020B0604020202020204" pitchFamily="34" charset="0"/>
                <a:sym typeface="Montserrat Classic"/>
              </a:rPr>
              <a:t>Cont.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BB76FD-1E36-B50C-3B2C-0665D601C5D0}"/>
              </a:ext>
            </a:extLst>
          </p:cNvPr>
          <p:cNvSpPr txBox="1"/>
          <p:nvPr/>
        </p:nvSpPr>
        <p:spPr>
          <a:xfrm>
            <a:off x="838200" y="6313233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5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2812710"/>
              </p:ext>
            </p:extLst>
          </p:nvPr>
        </p:nvGraphicFramePr>
        <p:xfrm>
          <a:off x="190500" y="1087740"/>
          <a:ext cx="11810999" cy="52031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1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43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10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243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318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rgbClr val="FFFF00"/>
                          </a:solidFill>
                          <a:latin typeface="Arial MT"/>
                          <a:ea typeface="Times New Roman" panose="02020603050405020304"/>
                          <a:cs typeface="Arial" panose="020B0604020202020204" pitchFamily="34" charset="0"/>
                        </a:rPr>
                        <a:t>S-No</a:t>
                      </a: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 MT"/>
                          <a:ea typeface="Times New Roman" panose="02020603050405020304"/>
                          <a:cs typeface="Arial" panose="020B0604020202020204" pitchFamily="34" charset="0"/>
                        </a:rPr>
                        <a:t>Author &amp; Year of Publication </a:t>
                      </a:r>
                      <a:endParaRPr lang="en-US" sz="1300" dirty="0">
                        <a:solidFill>
                          <a:srgbClr val="FFFF00"/>
                        </a:solidFill>
                        <a:latin typeface="Arial MT"/>
                        <a:ea typeface="Times New Roman" panose="02020603050405020304"/>
                        <a:cs typeface="Arial" panose="020B0604020202020204" pitchFamily="34" charset="0"/>
                      </a:endParaRP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 MT"/>
                          <a:ea typeface="Times New Roman" panose="02020603050405020304"/>
                          <a:cs typeface="Arial" panose="020B0604020202020204" pitchFamily="34" charset="0"/>
                        </a:rPr>
                        <a:t>Journal </a:t>
                      </a:r>
                      <a:endParaRPr lang="en-US" sz="1300" dirty="0">
                        <a:solidFill>
                          <a:srgbClr val="FFFF00"/>
                        </a:solidFill>
                        <a:latin typeface="Arial MT"/>
                        <a:ea typeface="Times New Roman" panose="02020603050405020304"/>
                        <a:cs typeface="Arial" panose="020B0604020202020204" pitchFamily="34" charset="0"/>
                      </a:endParaRP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 MT"/>
                          <a:ea typeface="Times New Roman" panose="02020603050405020304"/>
                          <a:cs typeface="Arial" panose="020B0604020202020204" pitchFamily="34" charset="0"/>
                        </a:rPr>
                        <a:t>Title of the     paper</a:t>
                      </a:r>
                      <a:endParaRPr lang="en-US" sz="1300" dirty="0">
                        <a:solidFill>
                          <a:srgbClr val="FFFF00"/>
                        </a:solidFill>
                        <a:latin typeface="Arial MT"/>
                        <a:ea typeface="Times New Roman" panose="02020603050405020304"/>
                        <a:cs typeface="Arial" panose="020B0604020202020204" pitchFamily="34" charset="0"/>
                      </a:endParaRP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rgbClr val="FFFF00"/>
                          </a:solidFill>
                          <a:latin typeface="Arial MT"/>
                          <a:ea typeface="Times New Roman" panose="02020603050405020304"/>
                          <a:cs typeface="Arial" panose="020B0604020202020204" pitchFamily="34" charset="0"/>
                        </a:rPr>
                        <a:t>Advantages &amp;</a:t>
                      </a: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 MT"/>
                          <a:ea typeface="Times New Roman" panose="02020603050405020304"/>
                          <a:cs typeface="Arial" panose="020B0604020202020204" pitchFamily="34" charset="0"/>
                        </a:rPr>
                        <a:t>Limitations</a:t>
                      </a:r>
                    </a:p>
                  </a:txBody>
                  <a:tcPr marL="59010" marR="59010" marT="4926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6379">
                <a:tc>
                  <a:txBody>
                    <a:bodyPr/>
                    <a:lstStyle/>
                    <a:p>
                      <a:pPr marL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IN" sz="1600" b="0" i="0" u="none" strike="noStrike" dirty="0">
                          <a:solidFill>
                            <a:schemeClr val="dk1"/>
                          </a:solidFill>
                          <a:effectLst/>
                          <a:latin typeface="Arial MT"/>
                          <a:ea typeface="+mn-ea"/>
                          <a:cs typeface="+mn-cs"/>
                        </a:rPr>
                        <a:t>S. Vimal, </a:t>
                      </a:r>
                      <a:r>
                        <a:rPr lang="en-IN" sz="1600" b="0" i="0" u="none" strike="noStrike" dirty="0" err="1">
                          <a:solidFill>
                            <a:schemeClr val="dk1"/>
                          </a:solidFill>
                          <a:effectLst/>
                          <a:latin typeface="Arial MT"/>
                          <a:ea typeface="+mn-ea"/>
                          <a:cs typeface="+mn-cs"/>
                        </a:rPr>
                        <a:t>S.Vishnu</a:t>
                      </a:r>
                      <a:r>
                        <a:rPr lang="en-IN" sz="1600" b="0" i="0" u="none" strike="noStrike" dirty="0">
                          <a:solidFill>
                            <a:schemeClr val="dk1"/>
                          </a:solidFill>
                          <a:effectLst/>
                          <a:latin typeface="Arial MT"/>
                          <a:ea typeface="+mn-ea"/>
                          <a:cs typeface="+mn-cs"/>
                        </a:rPr>
                        <a:t> Shiva Prakash, P.S. Surendar, R. </a:t>
                      </a:r>
                      <a:r>
                        <a:rPr lang="en-IN" sz="1600" b="0" i="0" u="none" strike="noStrike" dirty="0" err="1">
                          <a:solidFill>
                            <a:schemeClr val="dk1"/>
                          </a:solidFill>
                          <a:effectLst/>
                          <a:latin typeface="Arial MT"/>
                          <a:ea typeface="+mn-ea"/>
                          <a:cs typeface="+mn-cs"/>
                        </a:rPr>
                        <a:t>Veeravasanthan</a:t>
                      </a:r>
                      <a:r>
                        <a:rPr lang="en-IN" sz="1600" b="0" i="0" u="none" strike="noStrike" dirty="0">
                          <a:solidFill>
                            <a:schemeClr val="dk1"/>
                          </a:solidFill>
                          <a:effectLst/>
                          <a:latin typeface="Arial MT"/>
                          <a:ea typeface="+mn-ea"/>
                          <a:cs typeface="+mn-cs"/>
                        </a:rPr>
                        <a:t> , </a:t>
                      </a:r>
                      <a:r>
                        <a:rPr lang="en-US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(2024)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IEEE Access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A Smart Pill Dispenser with Real Time Alerts, Remote Access, and Enhanced Safety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anose="05000000000000000000" charset="0"/>
                        <a:buChar char="v"/>
                      </a:pPr>
                      <a:r>
                        <a:rPr lang="en-US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Combines an easy-to-use interface, pill-removal sensors, and remote caregiver monitoring to track adherence and alert on missed doses in real time.</a:t>
                      </a:r>
                    </a:p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anose="05000000000000000000" charset="0"/>
                        <a:buChar char="v"/>
                      </a:pPr>
                      <a:r>
                        <a:rPr lang="en-US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Centered on dosage-reminder adherence; does not track medicine expiry dates or maintain a stock/inventory count.</a:t>
                      </a:r>
                      <a:r>
                        <a:rPr lang="en-IN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  </a:t>
                      </a:r>
                    </a:p>
                  </a:txBody>
                  <a:tcPr marL="0" marR="0" marT="76200" marB="76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630">
                <a:tc>
                  <a:txBody>
                    <a:bodyPr/>
                    <a:lstStyle/>
                    <a:p>
                      <a:pPr marL="0" algn="ctr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just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IN" sz="1600" b="0" i="0" u="none" strike="noStrike" dirty="0">
                          <a:solidFill>
                            <a:schemeClr val="dk1"/>
                          </a:solidFill>
                          <a:effectLst/>
                          <a:latin typeface="Arial MT"/>
                          <a:ea typeface="+mn-ea"/>
                          <a:cs typeface="+mn-cs"/>
                        </a:rPr>
                        <a:t>de Lima. M.R, </a:t>
                      </a:r>
                      <a:r>
                        <a:rPr lang="en-IN" sz="1600" b="0" i="0" u="none" strike="noStrike" dirty="0" err="1">
                          <a:solidFill>
                            <a:schemeClr val="dk1"/>
                          </a:solidFill>
                          <a:effectLst/>
                          <a:latin typeface="Arial MT"/>
                          <a:ea typeface="+mn-ea"/>
                          <a:cs typeface="+mn-cs"/>
                        </a:rPr>
                        <a:t>Jouaiti</a:t>
                      </a:r>
                      <a:r>
                        <a:rPr lang="en-IN" sz="1600" b="0" i="0" u="none" strike="noStrike" dirty="0">
                          <a:solidFill>
                            <a:schemeClr val="dk1"/>
                          </a:solidFill>
                          <a:effectLst/>
                          <a:latin typeface="Arial MT"/>
                          <a:ea typeface="+mn-ea"/>
                          <a:cs typeface="+mn-cs"/>
                        </a:rPr>
                        <a:t>. M, </a:t>
                      </a:r>
                      <a:r>
                        <a:rPr lang="en-IN" sz="1600" b="0" i="0" u="none" strike="noStrike" dirty="0" err="1">
                          <a:solidFill>
                            <a:schemeClr val="dk1"/>
                          </a:solidFill>
                          <a:effectLst/>
                          <a:latin typeface="Arial MT"/>
                          <a:ea typeface="+mn-ea"/>
                          <a:cs typeface="+mn-cs"/>
                        </a:rPr>
                        <a:t>Wairagkar</a:t>
                      </a:r>
                      <a:r>
                        <a:rPr lang="en-IN" sz="1600" b="0" i="0" u="none" strike="noStrike" dirty="0">
                          <a:solidFill>
                            <a:schemeClr val="dk1"/>
                          </a:solidFill>
                          <a:effectLst/>
                          <a:latin typeface="Arial MT"/>
                          <a:ea typeface="+mn-ea"/>
                          <a:cs typeface="+mn-cs"/>
                        </a:rPr>
                        <a:t>. M, Malhotra. P, Barnaghi. P, and Vaidyanathan. R, (2023)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IEEE Access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indent="0" algn="just" fontAlgn="auto">
                        <a:lnSpc>
                          <a:spcPct val="97000"/>
                        </a:lnSpc>
                        <a:spcBef>
                          <a:spcPts val="1200"/>
                        </a:spcBef>
                        <a:spcAft>
                          <a:spcPts val="14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Discovering Behavioral Patterns Using Conversational Technology for In-Home Health and Well-Being Monitoring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anose="05000000000000000000" charset="0"/>
                        <a:buChar char="v"/>
                      </a:pPr>
                      <a:r>
                        <a:rPr lang="en-US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Fuses IoT environmental-sensor data with a voice assistant (Alexa) to detect behavioural patterns and flag deviations for at-risk users living at home, showing a practical in-home IoT + alerting architecture.</a:t>
                      </a:r>
                    </a:p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anose="05000000000000000000" charset="0"/>
                        <a:buChar char="v"/>
                      </a:pPr>
                      <a:r>
                        <a:rPr lang="en-US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Targets general well-being/behavioural monitoring for dementia care; does not address medicine expiry tracking or stock-level sensing.</a:t>
                      </a:r>
                    </a:p>
                  </a:txBody>
                  <a:tcPr marL="0" marR="0" marT="76200" marB="762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1015" y="178435"/>
            <a:ext cx="301815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altLang="en-US" sz="2800" b="1" dirty="0">
                <a:solidFill>
                  <a:srgbClr val="FDFDFD"/>
                </a:solidFill>
                <a:latin typeface="Arial" panose="020B0604020202020204" pitchFamily="34" charset="0"/>
                <a:ea typeface="Montserrat Classic"/>
                <a:cs typeface="Arial" panose="020B0604020202020204" pitchFamily="34" charset="0"/>
                <a:sym typeface="Montserrat Classic"/>
              </a:rPr>
              <a:t>Cont.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BE91FA-8BAE-19F2-B63F-3A59EA3991B4}"/>
              </a:ext>
            </a:extLst>
          </p:cNvPr>
          <p:cNvSpPr txBox="1"/>
          <p:nvPr/>
        </p:nvSpPr>
        <p:spPr>
          <a:xfrm>
            <a:off x="685800" y="6324600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6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3034295"/>
              </p:ext>
            </p:extLst>
          </p:nvPr>
        </p:nvGraphicFramePr>
        <p:xfrm>
          <a:off x="190500" y="930286"/>
          <a:ext cx="11810999" cy="53800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1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43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10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243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395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rgbClr val="FFFF00"/>
                          </a:solidFill>
                          <a:latin typeface="Arial MT"/>
                          <a:ea typeface="Times New Roman" panose="02020603050405020304"/>
                          <a:cs typeface="Arial" panose="020B0604020202020204" pitchFamily="34" charset="0"/>
                        </a:rPr>
                        <a:t>S-No</a:t>
                      </a: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 MT"/>
                          <a:ea typeface="Times New Roman" panose="02020603050405020304"/>
                          <a:cs typeface="Arial" panose="020B0604020202020204" pitchFamily="34" charset="0"/>
                        </a:rPr>
                        <a:t>Author &amp; Year of Publication </a:t>
                      </a:r>
                      <a:endParaRPr lang="en-US" sz="1300" dirty="0">
                        <a:solidFill>
                          <a:srgbClr val="FFFF00"/>
                        </a:solidFill>
                        <a:latin typeface="Arial MT"/>
                        <a:ea typeface="Times New Roman" panose="02020603050405020304"/>
                        <a:cs typeface="Arial" panose="020B0604020202020204" pitchFamily="34" charset="0"/>
                      </a:endParaRP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 MT"/>
                          <a:ea typeface="Times New Roman" panose="02020603050405020304"/>
                          <a:cs typeface="Arial" panose="020B0604020202020204" pitchFamily="34" charset="0"/>
                        </a:rPr>
                        <a:t>Journal </a:t>
                      </a:r>
                      <a:endParaRPr lang="en-US" sz="1300" dirty="0">
                        <a:solidFill>
                          <a:srgbClr val="FFFF00"/>
                        </a:solidFill>
                        <a:latin typeface="Arial MT"/>
                        <a:ea typeface="Times New Roman" panose="02020603050405020304"/>
                        <a:cs typeface="Arial" panose="020B0604020202020204" pitchFamily="34" charset="0"/>
                      </a:endParaRP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 MT"/>
                          <a:ea typeface="Times New Roman" panose="02020603050405020304"/>
                          <a:cs typeface="Arial" panose="020B0604020202020204" pitchFamily="34" charset="0"/>
                        </a:rPr>
                        <a:t>Title of the     paper</a:t>
                      </a:r>
                      <a:endParaRPr lang="en-US" sz="1300" dirty="0">
                        <a:solidFill>
                          <a:srgbClr val="FFFF00"/>
                        </a:solidFill>
                        <a:latin typeface="Arial MT"/>
                        <a:ea typeface="Times New Roman" panose="02020603050405020304"/>
                        <a:cs typeface="Arial" panose="020B0604020202020204" pitchFamily="34" charset="0"/>
                      </a:endParaRP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rgbClr val="FFFF00"/>
                          </a:solidFill>
                          <a:latin typeface="Arial MT"/>
                          <a:ea typeface="Times New Roman" panose="02020603050405020304"/>
                          <a:cs typeface="Arial" panose="020B0604020202020204" pitchFamily="34" charset="0"/>
                        </a:rPr>
                        <a:t>Advantages &amp;</a:t>
                      </a: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 MT"/>
                          <a:ea typeface="Times New Roman" panose="02020603050405020304"/>
                          <a:cs typeface="Arial" panose="020B0604020202020204" pitchFamily="34" charset="0"/>
                        </a:rPr>
                        <a:t>Limitations</a:t>
                      </a:r>
                    </a:p>
                  </a:txBody>
                  <a:tcPr marL="59010" marR="59010" marT="4926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0714">
                <a:tc>
                  <a:txBody>
                    <a:bodyPr/>
                    <a:lstStyle/>
                    <a:p>
                      <a:pPr marL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IN" sz="1600" b="0" i="0" u="none" strike="noStrike" dirty="0" err="1">
                          <a:solidFill>
                            <a:schemeClr val="dk1"/>
                          </a:solidFill>
                          <a:effectLst/>
                          <a:latin typeface="Arial MT"/>
                          <a:ea typeface="+mn-ea"/>
                          <a:cs typeface="+mn-cs"/>
                        </a:rPr>
                        <a:t>Ghafurian</a:t>
                      </a:r>
                      <a:r>
                        <a:rPr lang="en-IN" sz="1600" b="0" i="0" u="none" strike="noStrike" dirty="0">
                          <a:solidFill>
                            <a:schemeClr val="dk1"/>
                          </a:solidFill>
                          <a:effectLst/>
                          <a:latin typeface="Arial MT"/>
                          <a:ea typeface="+mn-ea"/>
                          <a:cs typeface="+mn-cs"/>
                        </a:rPr>
                        <a:t>. M, Wang. K, Dhode, I, Kapoor. M, Morita, P.P ,(2023)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IEEE Access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45720" lvl="0" indent="0" algn="just" fontAlgn="auto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14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Smart Home Devices for Supporting Older Adults: A Systematic Review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anose="05000000000000000000" charset="0"/>
                        <a:buChar char="v"/>
                      </a:pPr>
                      <a:r>
                        <a:rPr lang="en-US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Systematically reviews smart-home sensor devices used to support older adults' health, safety and independent living, informing which sensor types suit an unattended home medicine cabinet.</a:t>
                      </a:r>
                    </a:p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anose="05000000000000000000" charset="0"/>
                        <a:buChar char="v"/>
                      </a:pPr>
                      <a:r>
                        <a:rPr lang="en-US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Reviews general smart-home devices; does not address medicine-specific expiry dates or automated stock/inventory counting.</a:t>
                      </a:r>
                    </a:p>
                  </a:txBody>
                  <a:tcPr marL="0" marR="0" marT="76200" marB="76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2692">
                <a:tc>
                  <a:txBody>
                    <a:bodyPr/>
                    <a:lstStyle/>
                    <a:p>
                      <a:pPr marL="0" algn="ctr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IN" sz="1600" b="0" i="0" u="none" strike="noStrike" dirty="0">
                          <a:solidFill>
                            <a:schemeClr val="dk1"/>
                          </a:solidFill>
                          <a:effectLst/>
                          <a:latin typeface="Arial MT"/>
                          <a:ea typeface="+mn-ea"/>
                          <a:cs typeface="+mn-cs"/>
                        </a:rPr>
                        <a:t>Xu. J, Ye, Y, Wu, L. and Wang, X, (2023)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7000"/>
                        </a:lnSpc>
                        <a:spcBef>
                          <a:spcPts val="1200"/>
                        </a:spcBef>
                        <a:spcAft>
                          <a:spcPts val="14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IEEE Access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Wingdings" panose="05000000000000000000" charset="0"/>
                        <a:buNone/>
                        <a:tabLst/>
                        <a:defRPr/>
                      </a:pPr>
                      <a:r>
                        <a:rPr lang="en-US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The Principle, Methods and Recent Progress in RFID Positioning Techniques: A Review</a:t>
                      </a:r>
                    </a:p>
                    <a:p>
                      <a:pPr marL="0" indent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anose="05000000000000000000" charset="0"/>
                        <a:buNone/>
                      </a:pPr>
                      <a:endParaRPr lang="en-US" altLang="en-US" sz="1600" b="0" i="0" dirty="0">
                        <a:effectLst/>
                        <a:latin typeface="Arial MT"/>
                        <a:cs typeface="Arial" panose="020B0604020202020204" pitchFamily="34" charset="0"/>
                      </a:endParaRP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anose="05000000000000000000" charset="0"/>
                        <a:buChar char="v"/>
                      </a:pPr>
                      <a:r>
                        <a:rPr lang="en-US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Reviews RFID identification and positioning methods applicable to tagging and reading individual medicine items at shelf/compartment level.</a:t>
                      </a:r>
                    </a:p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anose="05000000000000000000" charset="0"/>
                        <a:buChar char="v"/>
                      </a:pPr>
                      <a:r>
                        <a:rPr lang="en-US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Survey-level treatment of RFID theory; not specific to medicine expiry-date logic or cabinet-based inventory design.</a:t>
                      </a:r>
                    </a:p>
                    <a:p>
                      <a:endParaRPr lang="en-IN" dirty="0">
                        <a:latin typeface="Arial M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1015" y="178435"/>
            <a:ext cx="301815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altLang="en-US" sz="2800" b="1" dirty="0">
                <a:solidFill>
                  <a:srgbClr val="FDFDFD"/>
                </a:solidFill>
                <a:latin typeface="Arial" panose="020B0604020202020204" pitchFamily="34" charset="0"/>
                <a:ea typeface="Montserrat Classic"/>
                <a:cs typeface="Arial" panose="020B0604020202020204" pitchFamily="34" charset="0"/>
                <a:sym typeface="Montserrat Classic"/>
              </a:rPr>
              <a:t>Cont.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384329-D0D6-3001-9C94-A7393E2FADFF}"/>
              </a:ext>
            </a:extLst>
          </p:cNvPr>
          <p:cNvSpPr txBox="1"/>
          <p:nvPr/>
        </p:nvSpPr>
        <p:spPr>
          <a:xfrm>
            <a:off x="685800" y="6287326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7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4678870"/>
              </p:ext>
            </p:extLst>
          </p:nvPr>
        </p:nvGraphicFramePr>
        <p:xfrm>
          <a:off x="190500" y="914400"/>
          <a:ext cx="11810999" cy="53945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1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43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30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23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693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372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rgbClr val="FFFF00"/>
                          </a:solidFill>
                          <a:latin typeface="Arial MT"/>
                          <a:ea typeface="Times New Roman" panose="02020603050405020304"/>
                          <a:cs typeface="Arial" panose="020B0604020202020204" pitchFamily="34" charset="0"/>
                        </a:rPr>
                        <a:t>S-No</a:t>
                      </a: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 MT"/>
                          <a:ea typeface="Times New Roman" panose="02020603050405020304"/>
                          <a:cs typeface="Arial" panose="020B0604020202020204" pitchFamily="34" charset="0"/>
                        </a:rPr>
                        <a:t>Author &amp; Year of Publication </a:t>
                      </a:r>
                      <a:endParaRPr lang="en-US" sz="1300" dirty="0">
                        <a:solidFill>
                          <a:srgbClr val="FFFF00"/>
                        </a:solidFill>
                        <a:latin typeface="Arial MT"/>
                        <a:ea typeface="Times New Roman" panose="02020603050405020304"/>
                        <a:cs typeface="Arial" panose="020B0604020202020204" pitchFamily="34" charset="0"/>
                      </a:endParaRP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 MT"/>
                          <a:ea typeface="Times New Roman" panose="02020603050405020304"/>
                          <a:cs typeface="Arial" panose="020B0604020202020204" pitchFamily="34" charset="0"/>
                        </a:rPr>
                        <a:t>Journal </a:t>
                      </a:r>
                      <a:endParaRPr lang="en-US" sz="1300" dirty="0">
                        <a:solidFill>
                          <a:srgbClr val="FFFF00"/>
                        </a:solidFill>
                        <a:latin typeface="Arial MT"/>
                        <a:ea typeface="Times New Roman" panose="02020603050405020304"/>
                        <a:cs typeface="Arial" panose="020B0604020202020204" pitchFamily="34" charset="0"/>
                      </a:endParaRP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 MT"/>
                          <a:ea typeface="Times New Roman" panose="02020603050405020304"/>
                          <a:cs typeface="Arial" panose="020B0604020202020204" pitchFamily="34" charset="0"/>
                        </a:rPr>
                        <a:t>Title of the     paper</a:t>
                      </a:r>
                      <a:endParaRPr lang="en-US" sz="1300" dirty="0">
                        <a:solidFill>
                          <a:srgbClr val="FFFF00"/>
                        </a:solidFill>
                        <a:latin typeface="Arial MT"/>
                        <a:ea typeface="Times New Roman" panose="02020603050405020304"/>
                        <a:cs typeface="Arial" panose="020B0604020202020204" pitchFamily="34" charset="0"/>
                      </a:endParaRP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rgbClr val="FFFF00"/>
                          </a:solidFill>
                          <a:latin typeface="Arial MT"/>
                          <a:ea typeface="Times New Roman" panose="02020603050405020304"/>
                          <a:cs typeface="Arial" panose="020B0604020202020204" pitchFamily="34" charset="0"/>
                        </a:rPr>
                        <a:t>Advantages &amp;</a:t>
                      </a: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 MT"/>
                          <a:ea typeface="Times New Roman" panose="02020603050405020304"/>
                          <a:cs typeface="Arial" panose="020B0604020202020204" pitchFamily="34" charset="0"/>
                        </a:rPr>
                        <a:t>Limitations</a:t>
                      </a:r>
                    </a:p>
                  </a:txBody>
                  <a:tcPr marL="59010" marR="59010" marT="4926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5380">
                <a:tc>
                  <a:txBody>
                    <a:bodyPr/>
                    <a:lstStyle/>
                    <a:p>
                      <a:pPr marL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IN" sz="1600" b="0" i="0" u="none" strike="noStrike" dirty="0">
                          <a:solidFill>
                            <a:schemeClr val="dk1"/>
                          </a:solidFill>
                          <a:effectLst/>
                          <a:latin typeface="Arial MT"/>
                          <a:ea typeface="+mn-ea"/>
                          <a:cs typeface="+mn-cs"/>
                        </a:rPr>
                        <a:t>Himi, S.T., Monalisa, N.T., Whaiduzzaman, M., Barros, A. and Uddin, M.S., (2023)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IEEE Access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MedAi: A Smartwatch-Based Application Framework for the Prediction Common Diseases Using Machine Learning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anose="05000000000000000000" charset="0"/>
                        <a:buChar char="v"/>
                      </a:pPr>
                      <a:r>
                        <a:rPr lang="en-US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Demonstrates a low-cost wearable-sensor and mobile-app framework delivering real-time health alerts, a usable pattern for on-device sensing paired with app notifications.</a:t>
                      </a:r>
                    </a:p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anose="05000000000000000000" charset="0"/>
                        <a:buChar char="v"/>
                      </a:pPr>
                      <a:r>
                        <a:rPr lang="en-US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Aimed at disease prediction from body sensors; not medicine expiry tracking or stock/inventory management.</a:t>
                      </a:r>
                    </a:p>
                  </a:txBody>
                  <a:tcPr marL="0" marR="0" marT="76200" marB="76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8660">
                <a:tc>
                  <a:txBody>
                    <a:bodyPr/>
                    <a:lstStyle/>
                    <a:p>
                      <a:pPr marL="0" algn="ctr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just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IN" sz="1600" b="0" i="0" u="none" strike="noStrike" dirty="0" err="1">
                          <a:solidFill>
                            <a:schemeClr val="dk1"/>
                          </a:solidFill>
                          <a:effectLst/>
                          <a:latin typeface="Arial MT"/>
                          <a:ea typeface="+mn-ea"/>
                          <a:cs typeface="+mn-cs"/>
                        </a:rPr>
                        <a:t>Isharyani</a:t>
                      </a:r>
                      <a:r>
                        <a:rPr lang="en-IN" sz="1600" b="0" i="0" u="none" strike="noStrike" dirty="0">
                          <a:solidFill>
                            <a:schemeClr val="dk1"/>
                          </a:solidFill>
                          <a:effectLst/>
                          <a:latin typeface="Arial MT"/>
                          <a:ea typeface="+mn-ea"/>
                          <a:cs typeface="+mn-cs"/>
                        </a:rPr>
                        <a:t>, Sopha, </a:t>
                      </a:r>
                      <a:r>
                        <a:rPr lang="en-IN" sz="1600" b="0" i="0" u="none" strike="noStrike" dirty="0" err="1">
                          <a:solidFill>
                            <a:schemeClr val="dk1"/>
                          </a:solidFill>
                          <a:effectLst/>
                          <a:latin typeface="Arial MT"/>
                          <a:ea typeface="+mn-ea"/>
                          <a:cs typeface="+mn-cs"/>
                        </a:rPr>
                        <a:t>Tjahjono</a:t>
                      </a:r>
                      <a:r>
                        <a:rPr lang="en-IN" sz="1600" b="0" i="0" u="none" strike="noStrike" dirty="0">
                          <a:solidFill>
                            <a:schemeClr val="dk1"/>
                          </a:solidFill>
                          <a:effectLst/>
                          <a:latin typeface="Arial MT"/>
                          <a:ea typeface="+mn-ea"/>
                          <a:cs typeface="+mn-cs"/>
                        </a:rPr>
                        <a:t>, and Wibisono, (2023)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7000"/>
                        </a:lnSpc>
                        <a:spcBef>
                          <a:spcPts val="1200"/>
                        </a:spcBef>
                        <a:spcAft>
                          <a:spcPts val="14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IEEE Access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anose="05000000000000000000" charset="0"/>
                        <a:buNone/>
                      </a:pPr>
                      <a:r>
                        <a:rPr lang="en-US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Exploring the Smart Retail Scenario for Traditional Retailers: Case Studies From a Developing Country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anose="05000000000000000000" charset="0"/>
                        <a:buChar char="v"/>
                      </a:pPr>
                      <a:r>
                        <a:rPr lang="en-US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Case studies show how small, resource-constrained retailers/pharmacies can adopt IoT-enabled smart inventory practices affordably.</a:t>
                      </a:r>
                    </a:p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anose="05000000000000000000" charset="0"/>
                        <a:buChar char="v"/>
                      </a:pPr>
                      <a:r>
                        <a:rPr lang="en-US" altLang="en-US" sz="1600" b="0" i="0" dirty="0">
                          <a:effectLst/>
                          <a:latin typeface="Arial MT"/>
                          <a:cs typeface="Arial" panose="020B0604020202020204" pitchFamily="34" charset="0"/>
                        </a:rPr>
                        <a:t>General retail-inventory case studies; does not address medicine-specific expiry-date logic or RFID/QR item-level tagging.</a:t>
                      </a:r>
                    </a:p>
                    <a:p>
                      <a:endParaRPr lang="en-IN" dirty="0">
                        <a:latin typeface="Arial M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1015" y="178435"/>
            <a:ext cx="301815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altLang="en-US" sz="2800" b="1" dirty="0">
                <a:solidFill>
                  <a:srgbClr val="FDFDFD"/>
                </a:solidFill>
                <a:latin typeface="Arial" panose="020B0604020202020204" pitchFamily="34" charset="0"/>
                <a:ea typeface="Montserrat Classic"/>
                <a:cs typeface="Arial" panose="020B0604020202020204" pitchFamily="34" charset="0"/>
                <a:sym typeface="Montserrat Classic"/>
              </a:rPr>
              <a:t>Cont.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611A84-31B7-2F9D-8594-F2EBBBCD02FF}"/>
              </a:ext>
            </a:extLst>
          </p:cNvPr>
          <p:cNvSpPr txBox="1"/>
          <p:nvPr/>
        </p:nvSpPr>
        <p:spPr>
          <a:xfrm>
            <a:off x="762000" y="6329532"/>
            <a:ext cx="1022985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8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739" y="84315"/>
            <a:ext cx="1203452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124325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3.</a:t>
            </a:r>
            <a:r>
              <a:rPr dirty="0"/>
              <a:t>Motivation</a:t>
            </a:r>
            <a:r>
              <a:rPr spc="-95" dirty="0"/>
              <a:t> </a:t>
            </a:r>
            <a:r>
              <a:rPr dirty="0"/>
              <a:t>and</a:t>
            </a:r>
            <a:r>
              <a:rPr spc="-90" dirty="0"/>
              <a:t> </a:t>
            </a:r>
            <a:r>
              <a:rPr spc="-20" dirty="0"/>
              <a:t>Gaps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9709" y="926592"/>
            <a:ext cx="11781155" cy="53014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4620" algn="just">
              <a:lnSpc>
                <a:spcPct val="150000"/>
              </a:lnSpc>
              <a:spcBef>
                <a:spcPts val="100"/>
              </a:spcBef>
              <a:tabLst>
                <a:tab pos="469900" algn="l"/>
              </a:tabLst>
            </a:pPr>
            <a:r>
              <a:rPr lang="en-US" sz="2400" b="1" dirty="0">
                <a:solidFill>
                  <a:srgbClr val="FF0000"/>
                </a:solidFill>
                <a:latin typeface="Arial MT"/>
                <a:cs typeface="Arial MT"/>
              </a:rPr>
              <a:t>Motivation:</a:t>
            </a:r>
          </a:p>
          <a:p>
            <a:pPr marL="469900" marR="134620" indent="-457200" algn="just">
              <a:lnSpc>
                <a:spcPct val="150000"/>
              </a:lnSpc>
              <a:spcBef>
                <a:spcPts val="100"/>
              </a:spcBef>
              <a:buFont typeface="+mj-lt"/>
              <a:buAutoNum type="arabicPeriod"/>
              <a:tabLst>
                <a:tab pos="469900" algn="l"/>
              </a:tabLst>
            </a:pPr>
            <a:r>
              <a:rPr sz="1800" dirty="0">
                <a:latin typeface="Arial MT"/>
                <a:cs typeface="Arial MT"/>
              </a:rPr>
              <a:t>Most households and pharmacies still track medicine expiry manually, so expired or near-expiry drugs often go unnoticed until they are consumed or wasted.</a:t>
            </a:r>
            <a:endParaRPr lang="en-US" sz="1800" dirty="0">
              <a:latin typeface="Arial MT"/>
              <a:cs typeface="Arial MT"/>
            </a:endParaRPr>
          </a:p>
          <a:p>
            <a:pPr marL="469900" marR="134620" indent="-457200" algn="just">
              <a:lnSpc>
                <a:spcPct val="150000"/>
              </a:lnSpc>
              <a:spcBef>
                <a:spcPts val="100"/>
              </a:spcBef>
              <a:buFont typeface="+mj-lt"/>
              <a:buAutoNum type="arabicPeriod"/>
              <a:tabLst>
                <a:tab pos="469900" algn="l"/>
              </a:tabLst>
            </a:pPr>
            <a:r>
              <a:rPr lang="en-US" sz="1800" dirty="0">
                <a:latin typeface="Arial MT"/>
                <a:cs typeface="Arial MT"/>
              </a:rPr>
              <a:t>Most published work remains at the prototype or simulation stage, highlighting the need for a practical, low-cost, real-world deployable smart medicine cabinet.</a:t>
            </a:r>
          </a:p>
          <a:p>
            <a:pPr marL="12700" marR="134620" algn="just">
              <a:lnSpc>
                <a:spcPct val="150000"/>
              </a:lnSpc>
              <a:spcBef>
                <a:spcPts val="100"/>
              </a:spcBef>
              <a:tabLst>
                <a:tab pos="469900" algn="l"/>
              </a:tabLst>
            </a:pPr>
            <a:r>
              <a:rPr lang="en-US" sz="2400" b="1" dirty="0">
                <a:solidFill>
                  <a:srgbClr val="FF0000"/>
                </a:solidFill>
                <a:latin typeface="Arial MT"/>
                <a:cs typeface="Arial MT"/>
              </a:rPr>
              <a:t>Gaps:</a:t>
            </a:r>
            <a:endParaRPr sz="2400" b="1" dirty="0">
              <a:solidFill>
                <a:srgbClr val="FF0000"/>
              </a:solidFill>
              <a:latin typeface="Arial MT"/>
              <a:cs typeface="Arial MT"/>
            </a:endParaRPr>
          </a:p>
          <a:p>
            <a:pPr marL="469900" marR="134620" indent="-457200" algn="just">
              <a:lnSpc>
                <a:spcPct val="150000"/>
              </a:lnSpc>
              <a:spcBef>
                <a:spcPts val="100"/>
              </a:spcBef>
              <a:buFont typeface="+mj-lt"/>
              <a:buAutoNum type="arabicPeriod"/>
              <a:tabLst>
                <a:tab pos="469900" algn="l"/>
              </a:tabLst>
            </a:pPr>
            <a:r>
              <a:rPr sz="1800" dirty="0">
                <a:latin typeface="Arial MT"/>
                <a:cs typeface="Arial MT"/>
              </a:rPr>
              <a:t>Few low-cost smart cabinets combine automatic stock/inventory counting with expiry alerts, forcing users to manage both tasks separately.</a:t>
            </a:r>
          </a:p>
          <a:p>
            <a:pPr marL="469900" marR="134620" indent="-457200" algn="just">
              <a:lnSpc>
                <a:spcPct val="150000"/>
              </a:lnSpc>
              <a:spcBef>
                <a:spcPts val="100"/>
              </a:spcBef>
              <a:buFont typeface="+mj-lt"/>
              <a:buAutoNum type="arabicPeriod"/>
              <a:tabLst>
                <a:tab pos="469900" algn="l"/>
              </a:tabLst>
            </a:pPr>
            <a:r>
              <a:rPr sz="1800" dirty="0">
                <a:latin typeface="Arial MT"/>
                <a:cs typeface="Arial MT"/>
              </a:rPr>
              <a:t>There is limited guidance on integrating RFID/QR-based identification, expiry-date tracking, and stock-level sensing into one compact, field-deployable ESP32-based cabinet.</a:t>
            </a:r>
          </a:p>
          <a:p>
            <a:pPr marL="469900" marR="134620" indent="-457200" algn="just">
              <a:lnSpc>
                <a:spcPct val="150000"/>
              </a:lnSpc>
              <a:spcBef>
                <a:spcPts val="100"/>
              </a:spcBef>
              <a:buFont typeface="+mj-lt"/>
              <a:buAutoNum type="arabicPeriod"/>
              <a:tabLst>
                <a:tab pos="469900" algn="l"/>
              </a:tabLst>
            </a:pPr>
            <a:r>
              <a:rPr sz="1800" dirty="0">
                <a:latin typeface="Arial MT"/>
                <a:cs typeface="Arial MT"/>
              </a:rPr>
              <a:t>Many proposed medicine-box systems depend heavily on continuous internet or cloud connectivity, making them unreliable in low-connectivity homes or clinics.</a:t>
            </a: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45781C-7F95-2F6D-235A-E15745838E7C}"/>
              </a:ext>
            </a:extLst>
          </p:cNvPr>
          <p:cNvSpPr txBox="1"/>
          <p:nvPr/>
        </p:nvSpPr>
        <p:spPr>
          <a:xfrm>
            <a:off x="762000" y="6351304"/>
            <a:ext cx="990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9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739" y="84315"/>
            <a:ext cx="12034520" cy="499611"/>
          </a:xfrm>
          <a:prstGeom prst="rect">
            <a:avLst/>
          </a:prstGeom>
        </p:spPr>
        <p:txBody>
          <a:bodyPr vert="horz" wrap="square" lIns="0" tIns="68059" rIns="0" bIns="0" rtlCol="0">
            <a:spAutoFit/>
          </a:bodyPr>
          <a:lstStyle/>
          <a:p>
            <a:pPr marL="4398645">
              <a:lnSpc>
                <a:spcPct val="100000"/>
              </a:lnSpc>
              <a:spcBef>
                <a:spcPts val="95"/>
              </a:spcBef>
            </a:pPr>
            <a:r>
              <a:rPr lang="en-US" dirty="0">
                <a:latin typeface="Calibri" panose="020F0502020204030204"/>
                <a:cs typeface="Calibri" panose="020F0502020204030204"/>
              </a:rPr>
              <a:t>4.</a:t>
            </a:r>
            <a:r>
              <a:rPr dirty="0">
                <a:latin typeface="Calibri" panose="020F0502020204030204"/>
                <a:cs typeface="Calibri" panose="020F0502020204030204"/>
              </a:rPr>
              <a:t>Project</a:t>
            </a:r>
            <a:r>
              <a:rPr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pc="-10" dirty="0">
                <a:latin typeface="Calibri" panose="020F0502020204030204"/>
                <a:cs typeface="Calibri" panose="020F0502020204030204"/>
              </a:rPr>
              <a:t>Requirements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8279" y="1080770"/>
            <a:ext cx="11730355" cy="400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Arial MT"/>
                <a:cs typeface="Arial" panose="020B0604020202020204"/>
              </a:rPr>
              <a:t>Functional</a:t>
            </a:r>
            <a:r>
              <a:rPr sz="2400" b="1" spc="-85" dirty="0">
                <a:solidFill>
                  <a:srgbClr val="FF0000"/>
                </a:solidFill>
                <a:latin typeface="Arial MT"/>
                <a:cs typeface="Arial" panose="020B0604020202020204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Arial MT"/>
                <a:cs typeface="Arial" panose="020B0604020202020204"/>
              </a:rPr>
              <a:t>Requirements</a:t>
            </a:r>
            <a:endParaRPr lang="en-IN" sz="2400" b="1" spc="-10" dirty="0">
              <a:solidFill>
                <a:srgbClr val="FF0000"/>
              </a:solidFill>
              <a:latin typeface="Arial MT"/>
              <a:cs typeface="Arial" panose="020B0604020202020204"/>
            </a:endParaRPr>
          </a:p>
          <a:p>
            <a:pPr marL="12700" algn="just">
              <a:lnSpc>
                <a:spcPct val="100000"/>
              </a:lnSpc>
              <a:spcBef>
                <a:spcPts val="100"/>
              </a:spcBef>
            </a:pPr>
            <a:endParaRPr sz="1800" dirty="0">
              <a:latin typeface="Arial MT"/>
              <a:cs typeface="Arial" panose="020B0604020202020204"/>
            </a:endParaRPr>
          </a:p>
          <a:p>
            <a:pPr marL="12700" marR="5080" algn="just">
              <a:lnSpc>
                <a:spcPct val="150000"/>
              </a:lnSpc>
            </a:pPr>
            <a:r>
              <a:rPr sz="1800" b="1" dirty="0">
                <a:latin typeface="Arial MT"/>
                <a:cs typeface="Arial" panose="020B0604020202020204"/>
              </a:rPr>
              <a:t>Expiry Detection: </a:t>
            </a:r>
            <a:r>
              <a:rPr sz="1800" dirty="0">
                <a:latin typeface="Arial MT"/>
                <a:cs typeface="Arial MT"/>
              </a:rPr>
              <a:t>Scan each medicine's RFID/QR tag to read its expiry date and continuously check it against the current date to flag items nearing expiry.</a:t>
            </a:r>
          </a:p>
          <a:p>
            <a:pPr marL="12700" marR="5080" algn="just">
              <a:lnSpc>
                <a:spcPct val="150000"/>
              </a:lnSpc>
            </a:pPr>
            <a:r>
              <a:rPr sz="1800" b="1" dirty="0">
                <a:latin typeface="Arial MT"/>
                <a:cs typeface="Arial" panose="020B0604020202020204"/>
              </a:rPr>
              <a:t>Inventory / Stock Tracking: </a:t>
            </a:r>
            <a:r>
              <a:rPr sz="1800" dirty="0">
                <a:latin typeface="Arial MT"/>
                <a:cs typeface="Arial MT"/>
              </a:rPr>
              <a:t>Use a load cell/IR sensor and RFID tagging to log each item added to or removed from the cabinet and maintain a live medicine stock count.</a:t>
            </a:r>
          </a:p>
          <a:p>
            <a:pPr marL="12700" marR="5080" algn="just">
              <a:lnSpc>
                <a:spcPct val="150000"/>
              </a:lnSpc>
            </a:pPr>
            <a:r>
              <a:rPr sz="1800" b="1" dirty="0">
                <a:latin typeface="Arial MT"/>
                <a:cs typeface="Arial" panose="020B0604020202020204"/>
              </a:rPr>
              <a:t>Low-Stock &amp; Expiry Alerts: </a:t>
            </a:r>
            <a:r>
              <a:rPr sz="1800" dirty="0">
                <a:latin typeface="Arial MT"/>
                <a:cs typeface="Arial MT"/>
              </a:rPr>
              <a:t>Send a push notification/app alert as soon as a medicine nears its expiry date or its stock falls below a set reorder threshold.</a:t>
            </a:r>
          </a:p>
          <a:p>
            <a:pPr marL="12700" marR="5080" algn="just">
              <a:lnSpc>
                <a:spcPct val="150000"/>
              </a:lnSpc>
            </a:pPr>
            <a:r>
              <a:rPr sz="1800" b="1" dirty="0">
                <a:latin typeface="Arial MT"/>
                <a:cs typeface="Arial" panose="020B0604020202020204"/>
              </a:rPr>
              <a:t>Local and Remote Alerting: </a:t>
            </a:r>
            <a:r>
              <a:rPr sz="1800" dirty="0">
                <a:latin typeface="Arial MT"/>
                <a:cs typeface="Arial MT"/>
              </a:rPr>
              <a:t>Trigger an on-cabinet LED/buzzer immediately on detection and push a notification to an ESP32-connected mobile app or dashboard for the user.</a:t>
            </a: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D0D996-1803-F21B-4571-AE1928743AC5}"/>
              </a:ext>
            </a:extLst>
          </p:cNvPr>
          <p:cNvSpPr txBox="1"/>
          <p:nvPr/>
        </p:nvSpPr>
        <p:spPr>
          <a:xfrm>
            <a:off x="685800" y="6400800"/>
            <a:ext cx="914400" cy="37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10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059" rIns="0" bIns="0" rtlCol="0">
            <a:spAutoFit/>
          </a:bodyPr>
          <a:lstStyle/>
          <a:p>
            <a:pPr marL="4398645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Calibri" panose="020F0502020204030204"/>
                <a:cs typeface="Calibri" panose="020F0502020204030204"/>
              </a:rPr>
              <a:t>Project</a:t>
            </a:r>
            <a:r>
              <a:rPr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pc="-10" dirty="0">
                <a:latin typeface="Calibri" panose="020F0502020204030204"/>
                <a:cs typeface="Calibri" panose="020F0502020204030204"/>
              </a:rPr>
              <a:t>Requirements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8279" y="1080770"/>
            <a:ext cx="11730355" cy="40857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FF0000"/>
                </a:solidFill>
                <a:latin typeface="Arial MT"/>
                <a:cs typeface="Arial" panose="020B0604020202020204"/>
              </a:rPr>
              <a:t>Non-</a:t>
            </a:r>
            <a:r>
              <a:rPr sz="2400" b="1" dirty="0">
                <a:solidFill>
                  <a:srgbClr val="FF0000"/>
                </a:solidFill>
                <a:latin typeface="Arial MT"/>
                <a:cs typeface="Arial" panose="020B0604020202020204"/>
              </a:rPr>
              <a:t>Functional</a:t>
            </a:r>
            <a:r>
              <a:rPr sz="2400" b="1" spc="-45" dirty="0">
                <a:solidFill>
                  <a:srgbClr val="FF0000"/>
                </a:solidFill>
                <a:latin typeface="Arial MT"/>
                <a:cs typeface="Arial" panose="020B0604020202020204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Arial MT"/>
                <a:cs typeface="Arial" panose="020B0604020202020204"/>
              </a:rPr>
              <a:t>Requirements</a:t>
            </a:r>
            <a:endParaRPr sz="2400" dirty="0">
              <a:latin typeface="Arial MT"/>
              <a:cs typeface="Arial" panose="020B0604020202020204"/>
            </a:endParaRPr>
          </a:p>
          <a:p>
            <a:pPr algn="just">
              <a:lnSpc>
                <a:spcPct val="100000"/>
              </a:lnSpc>
              <a:spcBef>
                <a:spcPts val="1170"/>
              </a:spcBef>
            </a:pPr>
            <a:endParaRPr sz="1800" dirty="0">
              <a:latin typeface="Arial MT"/>
              <a:cs typeface="Arial" panose="020B0604020202020204"/>
            </a:endParaRPr>
          </a:p>
          <a:p>
            <a:pPr marL="12700" marR="5080" algn="just">
              <a:lnSpc>
                <a:spcPct val="150000"/>
              </a:lnSpc>
            </a:pPr>
            <a:r>
              <a:rPr sz="1800" b="1" dirty="0">
                <a:latin typeface="Arial MT"/>
                <a:cs typeface="Arial" panose="020B0604020202020204"/>
              </a:rPr>
              <a:t>Fast Response Time: </a:t>
            </a:r>
            <a:r>
              <a:rPr sz="1800" dirty="0">
                <a:latin typeface="Arial MT"/>
                <a:cs typeface="Arial MT"/>
              </a:rPr>
              <a:t>Detect an expired or low-stock item and trigger a local alert within a few seconds of the scheduled inventory check.</a:t>
            </a:r>
          </a:p>
          <a:p>
            <a:pPr marL="12700" marR="5080" algn="just">
              <a:lnSpc>
                <a:spcPct val="150000"/>
              </a:lnSpc>
            </a:pPr>
            <a:r>
              <a:rPr sz="1800" b="1" dirty="0">
                <a:latin typeface="Arial MT"/>
                <a:cs typeface="Arial" panose="020B0604020202020204"/>
              </a:rPr>
              <a:t>Low Power Consumption: </a:t>
            </a:r>
            <a:r>
              <a:rPr sz="1800" dirty="0">
                <a:latin typeface="Arial MT"/>
                <a:cs typeface="Arial MT"/>
              </a:rPr>
              <a:t>Run the ESP32 and connected sensors on a rechargeable battery supply so the cabinet can operate continuously without being plugged in at all times.</a:t>
            </a:r>
          </a:p>
          <a:p>
            <a:pPr marL="12700" marR="5080" algn="just">
              <a:lnSpc>
                <a:spcPct val="150000"/>
              </a:lnSpc>
            </a:pPr>
            <a:r>
              <a:rPr sz="1800" b="1" dirty="0">
                <a:latin typeface="Arial MT"/>
                <a:cs typeface="Arial" panose="020B0604020202020204"/>
              </a:rPr>
              <a:t>Reliable Operation: </a:t>
            </a:r>
            <a:r>
              <a:rPr sz="1800" dirty="0">
                <a:latin typeface="Arial MT"/>
                <a:cs typeface="Arial MT"/>
              </a:rPr>
              <a:t>Keep RFID/QR readings and stock counts stable and accurate under normal household or pharmacy handling, with minimal false alerts.</a:t>
            </a:r>
          </a:p>
          <a:p>
            <a:pPr marL="12700" marR="5080" algn="just">
              <a:lnSpc>
                <a:spcPct val="150000"/>
              </a:lnSpc>
            </a:pPr>
            <a:r>
              <a:rPr sz="1800" b="1" dirty="0">
                <a:latin typeface="Arial MT"/>
                <a:cs typeface="Arial" panose="020B0604020202020204"/>
              </a:rPr>
              <a:t>Easy Maintenance: </a:t>
            </a:r>
            <a:r>
              <a:rPr sz="1800" dirty="0">
                <a:latin typeface="Arial MT"/>
                <a:cs typeface="Arial MT"/>
              </a:rPr>
              <a:t>Use a compact cabinet enclosure with modular shelving and wiring so sensors and tags can be inspected or replaced quickly by the user.</a:t>
            </a: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EF35F4-BEE5-E572-E400-5E429F8C7BB8}"/>
              </a:ext>
            </a:extLst>
          </p:cNvPr>
          <p:cNvSpPr txBox="1"/>
          <p:nvPr/>
        </p:nvSpPr>
        <p:spPr>
          <a:xfrm>
            <a:off x="838200" y="6324600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11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059" rIns="0" bIns="0" rtlCol="0">
            <a:spAutoFit/>
          </a:bodyPr>
          <a:lstStyle/>
          <a:p>
            <a:pPr marL="4398645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Calibri" panose="020F0502020204030204"/>
                <a:cs typeface="Calibri" panose="020F0502020204030204"/>
              </a:rPr>
              <a:t>Project</a:t>
            </a:r>
            <a:r>
              <a:rPr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pc="-10" dirty="0">
                <a:latin typeface="Calibri" panose="020F0502020204030204"/>
                <a:cs typeface="Calibri" panose="020F0502020204030204"/>
              </a:rPr>
              <a:t>Requirements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8278" y="1080770"/>
            <a:ext cx="619252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0000"/>
                </a:solidFill>
                <a:latin typeface="Arial MT"/>
                <a:cs typeface="Arial" panose="020B0604020202020204"/>
              </a:rPr>
              <a:t>Technical</a:t>
            </a:r>
            <a:r>
              <a:rPr sz="2400" b="1" spc="-65" dirty="0">
                <a:solidFill>
                  <a:srgbClr val="FF0000"/>
                </a:solidFill>
                <a:latin typeface="Arial MT"/>
                <a:cs typeface="Arial" panose="020B0604020202020204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 MT"/>
                <a:cs typeface="Arial" panose="020B0604020202020204"/>
              </a:rPr>
              <a:t>&amp;</a:t>
            </a:r>
            <a:r>
              <a:rPr sz="2400" b="1" spc="-125" dirty="0">
                <a:solidFill>
                  <a:srgbClr val="FF0000"/>
                </a:solidFill>
                <a:latin typeface="Arial MT"/>
                <a:cs typeface="Arial" panose="020B0604020202020204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 MT"/>
                <a:cs typeface="Arial" panose="020B0604020202020204"/>
              </a:rPr>
              <a:t>Architectural</a:t>
            </a:r>
            <a:r>
              <a:rPr sz="2400" b="1" spc="-65" dirty="0">
                <a:solidFill>
                  <a:srgbClr val="FF0000"/>
                </a:solidFill>
                <a:latin typeface="Arial MT"/>
                <a:cs typeface="Arial" panose="020B0604020202020204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Arial MT"/>
                <a:cs typeface="Arial" panose="020B0604020202020204"/>
              </a:rPr>
              <a:t>Requirements</a:t>
            </a:r>
            <a:endParaRPr sz="2400" dirty="0">
              <a:latin typeface="Arial MT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2904" y="1624710"/>
            <a:ext cx="11730355" cy="3424014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</a:pPr>
            <a:r>
              <a:rPr sz="1800" b="1" dirty="0">
                <a:latin typeface="Arial MT"/>
                <a:cs typeface="Arial" panose="020B0604020202020204"/>
              </a:rPr>
              <a:t>Sensor Layer: </a:t>
            </a:r>
            <a:r>
              <a:rPr sz="1800" dirty="0">
                <a:latin typeface="Arial MT"/>
                <a:cs typeface="Arial MT"/>
              </a:rPr>
              <a:t>RC522 RFID reader / QR code camera module for item identification, a load cell for stock-weight sensing, and an RTC module for date tracking, all wired to a single ESP32 microcontroller.</a:t>
            </a:r>
          </a:p>
          <a:p>
            <a:pPr marL="12700" marR="5080" algn="just">
              <a:lnSpc>
                <a:spcPct val="150000"/>
              </a:lnSpc>
            </a:pPr>
            <a:r>
              <a:rPr sz="1800" b="1" dirty="0">
                <a:latin typeface="Arial MT"/>
                <a:cs typeface="Arial" panose="020B0604020202020204"/>
              </a:rPr>
              <a:t>Processing &amp; Logic: </a:t>
            </a:r>
            <a:r>
              <a:rPr sz="1800" dirty="0">
                <a:latin typeface="Arial MT"/>
                <a:cs typeface="Arial MT"/>
              </a:rPr>
              <a:t>ESP32 firmware reads each tagged item's expiry date and stock count at fixed intervals and compares them against set thresholds to classify items as fresh, near-expiry, expired, or low-stock.</a:t>
            </a:r>
          </a:p>
          <a:p>
            <a:pPr marL="12700" marR="5080" algn="just">
              <a:lnSpc>
                <a:spcPct val="150000"/>
              </a:lnSpc>
            </a:pPr>
            <a:r>
              <a:rPr sz="1800" b="1" dirty="0">
                <a:latin typeface="Arial MT"/>
                <a:cs typeface="Arial" panose="020B0604020202020204"/>
              </a:rPr>
              <a:t>Alerting Layer: </a:t>
            </a:r>
            <a:r>
              <a:rPr sz="1800" dirty="0">
                <a:latin typeface="Arial MT"/>
                <a:cs typeface="Arial MT"/>
              </a:rPr>
              <a:t>An onboard LED/buzzer signals immediately on the cabinet, while the ESP32 pushes expiry and stock status to a cloud database over Wi-Fi.</a:t>
            </a:r>
          </a:p>
          <a:p>
            <a:pPr marL="12700" marR="5080" algn="just">
              <a:lnSpc>
                <a:spcPct val="150000"/>
              </a:lnSpc>
            </a:pPr>
            <a:r>
              <a:rPr sz="1800" b="1" dirty="0">
                <a:latin typeface="Arial MT"/>
                <a:cs typeface="Arial" panose="020B0604020202020204"/>
              </a:rPr>
              <a:t>Monitoring Dashboard: </a:t>
            </a:r>
            <a:r>
              <a:rPr sz="1800" dirty="0">
                <a:latin typeface="Arial MT"/>
                <a:cs typeface="Arial MT"/>
              </a:rPr>
              <a:t>A simple mobile/web app displays live medicine inventory, expiry alerts, and stock levels for the user or pharmacy staff.</a:t>
            </a:r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C89B1B-B511-969A-C2F3-005F5DF8DBEE}"/>
              </a:ext>
            </a:extLst>
          </p:cNvPr>
          <p:cNvSpPr txBox="1"/>
          <p:nvPr/>
        </p:nvSpPr>
        <p:spPr>
          <a:xfrm>
            <a:off x="838200" y="632460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12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739" y="84315"/>
            <a:ext cx="12034520" cy="501534"/>
          </a:xfrm>
          <a:prstGeom prst="rect">
            <a:avLst/>
          </a:prstGeom>
        </p:spPr>
        <p:txBody>
          <a:bodyPr vert="horz" wrap="square" lIns="0" tIns="69964" rIns="0" bIns="0" rtlCol="0">
            <a:spAutoFit/>
          </a:bodyPr>
          <a:lstStyle/>
          <a:p>
            <a:pPr marL="5094605">
              <a:lnSpc>
                <a:spcPct val="100000"/>
              </a:lnSpc>
              <a:spcBef>
                <a:spcPts val="95"/>
              </a:spcBef>
            </a:pPr>
            <a:r>
              <a:rPr lang="en-US" spc="-10" dirty="0"/>
              <a:t>5.</a:t>
            </a:r>
            <a:r>
              <a:rPr spc="-10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2096135"/>
            <a:ext cx="11730355" cy="24801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 algn="just">
              <a:lnSpc>
                <a:spcPct val="150000"/>
              </a:lnSpc>
              <a:spcBef>
                <a:spcPts val="100"/>
              </a:spcBef>
              <a:buAutoNum type="arabicPeriod"/>
              <a:tabLst>
                <a:tab pos="469900" algn="l"/>
              </a:tabLst>
            </a:pPr>
            <a:r>
              <a:rPr lang="en-US" dirty="0">
                <a:latin typeface="Arial MT"/>
                <a:cs typeface="Arial MT"/>
              </a:rPr>
              <a:t>To d</a:t>
            </a:r>
            <a:r>
              <a:rPr sz="1800" dirty="0">
                <a:latin typeface="Arial MT"/>
                <a:cs typeface="Arial MT"/>
              </a:rPr>
              <a:t>etect medicine expiry early using automated RFID/QR-based date tracking, before expired drugs are accidentally consumed or wasted.</a:t>
            </a:r>
          </a:p>
          <a:p>
            <a:pPr marL="469900" marR="5080" indent="-457200" algn="just">
              <a:lnSpc>
                <a:spcPct val="150000"/>
              </a:lnSpc>
              <a:spcBef>
                <a:spcPts val="100"/>
              </a:spcBef>
              <a:buAutoNum type="arabicPeriod"/>
              <a:tabLst>
                <a:tab pos="469900" algn="l"/>
              </a:tabLst>
            </a:pPr>
            <a:r>
              <a:rPr lang="en-US" dirty="0">
                <a:latin typeface="Arial MT"/>
                <a:cs typeface="Arial MT"/>
              </a:rPr>
              <a:t>To r</a:t>
            </a:r>
            <a:r>
              <a:rPr sz="1800" dirty="0">
                <a:latin typeface="Arial MT"/>
                <a:cs typeface="Arial MT"/>
              </a:rPr>
              <a:t>educe manual stock-checking by automating inventory counts with a low-cost ESP32-based cabinet that tracks items as they are added or removed.</a:t>
            </a:r>
          </a:p>
          <a:p>
            <a:pPr marL="469900" marR="5080" indent="-457200" algn="just">
              <a:lnSpc>
                <a:spcPct val="150000"/>
              </a:lnSpc>
              <a:spcBef>
                <a:spcPts val="100"/>
              </a:spcBef>
              <a:buAutoNum type="arabicPeriod"/>
              <a:tabLst>
                <a:tab pos="469900" algn="l"/>
              </a:tabLst>
            </a:pPr>
            <a:r>
              <a:rPr lang="en-US" dirty="0">
                <a:latin typeface="Arial MT"/>
                <a:cs typeface="Arial MT"/>
              </a:rPr>
              <a:t>To e</a:t>
            </a:r>
            <a:r>
              <a:rPr sz="1800" dirty="0">
                <a:latin typeface="Arial MT"/>
                <a:cs typeface="Arial MT"/>
              </a:rPr>
              <a:t>nable timely restocking by sending instant low-stock and expiry alerts to the user's mobile app as soon as a threshold is crossed.</a:t>
            </a: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E7F3BB-75EE-6EB9-EF67-085EF0ED1E7B}"/>
              </a:ext>
            </a:extLst>
          </p:cNvPr>
          <p:cNvSpPr txBox="1"/>
          <p:nvPr/>
        </p:nvSpPr>
        <p:spPr>
          <a:xfrm>
            <a:off x="762000" y="6324600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13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739" y="84315"/>
            <a:ext cx="12034520" cy="501534"/>
          </a:xfrm>
          <a:prstGeom prst="rect">
            <a:avLst/>
          </a:prstGeom>
        </p:spPr>
        <p:txBody>
          <a:bodyPr vert="horz" wrap="square" lIns="0" tIns="69964" rIns="0" bIns="0" rtlCol="0">
            <a:spAutoFit/>
          </a:bodyPr>
          <a:lstStyle/>
          <a:p>
            <a:pPr marL="4383405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6.</a:t>
            </a:r>
            <a:r>
              <a:rPr dirty="0"/>
              <a:t>Expected</a:t>
            </a:r>
            <a:r>
              <a:rPr spc="-110" dirty="0"/>
              <a:t> </a:t>
            </a:r>
            <a:r>
              <a:rPr spc="-10" dirty="0"/>
              <a:t>Outcome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914399"/>
            <a:ext cx="7162800" cy="524664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85810" y="779492"/>
            <a:ext cx="3887470" cy="55451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55600" algn="l"/>
              </a:tabLst>
            </a:pPr>
            <a:r>
              <a:rPr sz="1700" b="1" dirty="0">
                <a:latin typeface="Arial MT"/>
                <a:cs typeface="Calibri" panose="020F0502020204030204"/>
              </a:rPr>
              <a:t>Working Prototype – </a:t>
            </a:r>
            <a:r>
              <a:rPr sz="1700" dirty="0">
                <a:latin typeface="Arial MT"/>
                <a:cs typeface="Calibri" panose="020F0502020204030204"/>
              </a:rPr>
              <a:t>A functional ESP32-based cabinet that continuously scans stored medicines and tracks their expiry dates and stock levels.</a:t>
            </a:r>
          </a:p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55600" algn="l"/>
              </a:tabLst>
            </a:pPr>
            <a:r>
              <a:rPr sz="1700" b="1" dirty="0">
                <a:latin typeface="Arial MT"/>
                <a:cs typeface="Calibri" panose="020F0502020204030204"/>
              </a:rPr>
              <a:t>Real-Time Alerts – </a:t>
            </a:r>
            <a:r>
              <a:rPr sz="1700" dirty="0">
                <a:latin typeface="Arial MT"/>
                <a:cs typeface="Calibri" panose="020F0502020204030204"/>
              </a:rPr>
              <a:t>Instant on-cabinet LED/buzzer alert and a mobile app notification the moment a medicine nears expiry or stock runs low.</a:t>
            </a:r>
          </a:p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55600" algn="l"/>
              </a:tabLst>
            </a:pPr>
            <a:r>
              <a:rPr sz="1700" b="1" dirty="0">
                <a:latin typeface="Arial MT"/>
                <a:cs typeface="Calibri" panose="020F0502020204030204"/>
              </a:rPr>
              <a:t>Reduced Manual Inspection – </a:t>
            </a:r>
            <a:r>
              <a:rPr sz="1700" dirty="0">
                <a:latin typeface="Arial MT"/>
                <a:cs typeface="Calibri" panose="020F0502020204030204"/>
              </a:rPr>
              <a:t>Fewer manual medicine-cabinet checks, since the user is notified only when an item actually needs attention.</a:t>
            </a:r>
          </a:p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55600" algn="l"/>
              </a:tabLst>
            </a:pPr>
            <a:r>
              <a:rPr sz="1700" b="1" dirty="0">
                <a:latin typeface="Arial MT"/>
                <a:cs typeface="Calibri" panose="020F0502020204030204"/>
              </a:rPr>
              <a:t>Reduced Medicine Wastage – </a:t>
            </a:r>
            <a:r>
              <a:rPr sz="1700" dirty="0">
                <a:latin typeface="Arial MT"/>
                <a:cs typeface="Calibri" panose="020F0502020204030204"/>
              </a:rPr>
              <a:t>Early expiry warnings let users consume or discard medicines in time, cutting down accidental use of expired drugs and unnecessary waste.</a:t>
            </a:r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C0F547-A5C8-61A0-19E7-1B5EB3AE90D3}"/>
              </a:ext>
            </a:extLst>
          </p:cNvPr>
          <p:cNvSpPr txBox="1"/>
          <p:nvPr/>
        </p:nvSpPr>
        <p:spPr>
          <a:xfrm>
            <a:off x="838200" y="63246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14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3400" y="1334071"/>
            <a:ext cx="11729720" cy="414020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180"/>
              </a:spcBef>
            </a:pPr>
            <a:r>
              <a:rPr sz="1800" b="1" dirty="0">
                <a:latin typeface="Arial" panose="020B0604020202020204"/>
                <a:cs typeface="Arial" panose="020B0604020202020204"/>
              </a:rPr>
              <a:t>SDG</a:t>
            </a:r>
            <a:r>
              <a:rPr sz="1800" b="1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latin typeface="Arial" panose="020B0604020202020204"/>
                <a:cs typeface="Arial" panose="020B0604020202020204"/>
              </a:rPr>
              <a:t>Number:</a:t>
            </a:r>
            <a:endParaRPr sz="1800" dirty="0">
              <a:latin typeface="Arial" panose="020B0604020202020204"/>
              <a:cs typeface="Arial" panose="020B0604020202020204"/>
            </a:endParaRPr>
          </a:p>
          <a:p>
            <a:pPr marL="533400" algn="just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Arial MT"/>
                <a:cs typeface="Arial MT"/>
              </a:rPr>
              <a:t>SDG 12 – Responsible Consumption and Production</a:t>
            </a:r>
          </a:p>
          <a:p>
            <a:pPr algn="just">
              <a:lnSpc>
                <a:spcPct val="100000"/>
              </a:lnSpc>
            </a:pPr>
            <a:endParaRPr sz="1800" dirty="0">
              <a:latin typeface="Arial MT"/>
              <a:cs typeface="Arial MT"/>
            </a:endParaRPr>
          </a:p>
          <a:p>
            <a:pPr algn="just">
              <a:lnSpc>
                <a:spcPct val="100000"/>
              </a:lnSpc>
              <a:spcBef>
                <a:spcPts val="180"/>
              </a:spcBef>
            </a:pPr>
            <a:endParaRPr sz="1800" dirty="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</a:pPr>
            <a:r>
              <a:rPr sz="1800" b="1" dirty="0">
                <a:latin typeface="Arial" panose="020B0604020202020204"/>
                <a:cs typeface="Arial" panose="020B0604020202020204"/>
              </a:rPr>
              <a:t>Global</a:t>
            </a:r>
            <a:r>
              <a:rPr sz="1800" b="1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Challenge</a:t>
            </a:r>
            <a:r>
              <a:rPr sz="1800" b="1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&amp;</a:t>
            </a:r>
            <a:r>
              <a:rPr sz="1800" b="1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latin typeface="Arial" panose="020B0604020202020204"/>
                <a:cs typeface="Arial" panose="020B0604020202020204"/>
              </a:rPr>
              <a:t>Relevance:</a:t>
            </a:r>
            <a:endParaRPr sz="1800" dirty="0">
              <a:latin typeface="Arial" panose="020B0604020202020204"/>
              <a:cs typeface="Arial" panose="020B0604020202020204"/>
            </a:endParaRPr>
          </a:p>
          <a:p>
            <a:pPr marL="927100" marR="5080" indent="-457200" algn="just">
              <a:lnSpc>
                <a:spcPct val="150000"/>
              </a:lnSpc>
              <a:buAutoNum type="arabicPeriod"/>
              <a:tabLst>
                <a:tab pos="927100" algn="l"/>
              </a:tabLst>
            </a:pPr>
            <a:r>
              <a:rPr sz="1800" dirty="0">
                <a:latin typeface="Arial MT"/>
                <a:cs typeface="Arial MT"/>
              </a:rPr>
              <a:t>Reducing Medicine Wastage – Automated expiry tracking lets households and pharmacies use or dispose of medicines before they expire, cutting down avoidable pharmaceutical waste.</a:t>
            </a:r>
          </a:p>
          <a:p>
            <a:pPr marL="927100" marR="5080" indent="-457200" algn="just">
              <a:lnSpc>
                <a:spcPct val="150000"/>
              </a:lnSpc>
              <a:buAutoNum type="arabicPeriod"/>
              <a:tabLst>
                <a:tab pos="927100" algn="l"/>
              </a:tabLst>
            </a:pPr>
            <a:r>
              <a:rPr sz="1800" dirty="0">
                <a:latin typeface="Arial MT"/>
                <a:cs typeface="Arial MT"/>
              </a:rPr>
              <a:t>Promoting Efficient Resource Use – Real-time stock and inventory tracking prevents over-purchasing and over-stocking of medicines, ensuring resources are consumed responsibly.</a:t>
            </a:r>
          </a:p>
          <a:p>
            <a:pPr marL="927100" marR="5080" indent="-457200" algn="just">
              <a:lnSpc>
                <a:spcPct val="150000"/>
              </a:lnSpc>
              <a:buAutoNum type="arabicPeriod"/>
              <a:tabLst>
                <a:tab pos="927100" algn="l"/>
              </a:tabLst>
            </a:pPr>
            <a:r>
              <a:rPr sz="1800" dirty="0">
                <a:latin typeface="Arial MT"/>
                <a:cs typeface="Arial MT"/>
              </a:rPr>
              <a:t>Encouraging Sustainable Consumption Practices – A low-cost, IoT-based cabinet promotes accountable, waste-conscious medicine management for households, clinics, and small pharmacies.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8739" y="84315"/>
            <a:ext cx="1203452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60115">
              <a:lnSpc>
                <a:spcPct val="100000"/>
              </a:lnSpc>
              <a:spcBef>
                <a:spcPts val="95"/>
              </a:spcBef>
            </a:pPr>
            <a:r>
              <a:rPr lang="en-US" dirty="0">
                <a:latin typeface="Calibri" panose="020F0502020204030204"/>
                <a:cs typeface="Calibri" panose="020F0502020204030204"/>
              </a:rPr>
              <a:t>7.</a:t>
            </a:r>
            <a:r>
              <a:rPr dirty="0">
                <a:latin typeface="Calibri" panose="020F0502020204030204"/>
                <a:cs typeface="Calibri" panose="020F0502020204030204"/>
              </a:rPr>
              <a:t>SDG</a:t>
            </a:r>
            <a:r>
              <a:rPr spc="-55" dirty="0">
                <a:latin typeface="Calibri" panose="020F0502020204030204"/>
                <a:cs typeface="Calibri" panose="020F0502020204030204"/>
              </a:rPr>
              <a:t> </a:t>
            </a:r>
            <a:r>
              <a:rPr dirty="0">
                <a:latin typeface="Calibri" panose="020F0502020204030204"/>
                <a:cs typeface="Calibri" panose="020F0502020204030204"/>
              </a:rPr>
              <a:t>Number</a:t>
            </a:r>
            <a:r>
              <a:rPr spc="-55" dirty="0">
                <a:latin typeface="Calibri" panose="020F0502020204030204"/>
                <a:cs typeface="Calibri" panose="020F0502020204030204"/>
              </a:rPr>
              <a:t> </a:t>
            </a:r>
            <a:r>
              <a:rPr dirty="0">
                <a:latin typeface="Calibri" panose="020F0502020204030204"/>
                <a:cs typeface="Calibri" panose="020F0502020204030204"/>
              </a:rPr>
              <a:t>and</a:t>
            </a:r>
            <a:r>
              <a:rPr spc="-50" dirty="0">
                <a:latin typeface="Calibri" panose="020F0502020204030204"/>
                <a:cs typeface="Calibri" panose="020F0502020204030204"/>
              </a:rPr>
              <a:t> </a:t>
            </a:r>
            <a:r>
              <a:rPr dirty="0">
                <a:latin typeface="Calibri" panose="020F0502020204030204"/>
                <a:cs typeface="Calibri" panose="020F0502020204030204"/>
              </a:rPr>
              <a:t>Global</a:t>
            </a:r>
            <a:r>
              <a:rPr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pc="-10" dirty="0">
                <a:latin typeface="Calibri" panose="020F0502020204030204"/>
                <a:cs typeface="Calibri" panose="020F0502020204030204"/>
              </a:rPr>
              <a:t>Challenge</a:t>
            </a: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17BC0F-7D32-E66F-D043-3474B143C969}"/>
              </a:ext>
            </a:extLst>
          </p:cNvPr>
          <p:cNvSpPr txBox="1"/>
          <p:nvPr/>
        </p:nvSpPr>
        <p:spPr>
          <a:xfrm>
            <a:off x="721242" y="6385273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15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0" y="133943"/>
            <a:ext cx="12039600" cy="482683"/>
          </a:xfrm>
          <a:prstGeom prst="rect">
            <a:avLst/>
          </a:prstGeom>
        </p:spPr>
        <p:txBody>
          <a:bodyPr vert="horz" wrap="square" lIns="0" tIns="51295" rIns="0" bIns="0" rtlCol="0">
            <a:spAutoFit/>
          </a:bodyPr>
          <a:lstStyle/>
          <a:p>
            <a:pPr marL="1563370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8.</a:t>
            </a:r>
            <a:r>
              <a:rPr dirty="0"/>
              <a:t>Project</a:t>
            </a:r>
            <a:r>
              <a:rPr spc="-55" dirty="0"/>
              <a:t> </a:t>
            </a:r>
            <a:r>
              <a:rPr dirty="0"/>
              <a:t>Domain</a:t>
            </a:r>
            <a:r>
              <a:rPr spc="-50" dirty="0"/>
              <a:t> </a:t>
            </a:r>
            <a:r>
              <a:rPr dirty="0"/>
              <a:t>Mapping</a:t>
            </a:r>
            <a:r>
              <a:rPr spc="-50" dirty="0"/>
              <a:t> </a:t>
            </a:r>
            <a:r>
              <a:rPr dirty="0"/>
              <a:t>with</a:t>
            </a:r>
            <a:r>
              <a:rPr spc="-50" dirty="0"/>
              <a:t> </a:t>
            </a:r>
            <a:r>
              <a:rPr dirty="0"/>
              <a:t>POs</a:t>
            </a:r>
            <a:r>
              <a:rPr spc="-50" dirty="0"/>
              <a:t> </a:t>
            </a:r>
            <a:r>
              <a:rPr dirty="0"/>
              <a:t>/</a:t>
            </a:r>
            <a:r>
              <a:rPr spc="-45" dirty="0"/>
              <a:t> </a:t>
            </a:r>
            <a:r>
              <a:rPr dirty="0"/>
              <a:t>PSOs</a:t>
            </a:r>
            <a:r>
              <a:rPr spc="-50" dirty="0"/>
              <a:t> </a:t>
            </a:r>
            <a:r>
              <a:rPr dirty="0"/>
              <a:t>with</a:t>
            </a:r>
            <a:r>
              <a:rPr spc="-50" dirty="0"/>
              <a:t> </a:t>
            </a:r>
            <a:r>
              <a:rPr spc="-10" dirty="0"/>
              <a:t>justification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5574903"/>
              </p:ext>
            </p:extLst>
          </p:nvPr>
        </p:nvGraphicFramePr>
        <p:xfrm>
          <a:off x="490163" y="1468466"/>
          <a:ext cx="10731497" cy="37820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6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6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6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7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64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64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64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64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644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707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664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664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6644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76644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692150">
                <a:tc>
                  <a:txBody>
                    <a:bodyPr/>
                    <a:lstStyle/>
                    <a:p>
                      <a:pPr marL="154940" marR="68580" indent="-79375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sz="15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Course </a:t>
                      </a:r>
                      <a:r>
                        <a:rPr sz="1500" spc="-2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Code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149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endParaRPr sz="15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spc="-2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PO1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158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endParaRPr sz="15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spc="-2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PO2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58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endParaRPr sz="15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spc="-2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PO3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58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endParaRPr sz="15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spc="-2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PO4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158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endParaRPr sz="15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spc="-2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PO5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158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endParaRPr sz="15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spc="-2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PO6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158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endParaRPr sz="15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spc="-2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PO7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158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endParaRPr sz="15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spc="-2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PO8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158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endParaRPr sz="15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spc="-2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PO9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158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endParaRPr sz="15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spc="-2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PO10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158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endParaRPr sz="15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spc="-2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PO11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58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endParaRPr sz="15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spc="-2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PSO1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587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endParaRPr sz="15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spc="-2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PSO2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158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9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500" spc="-10" dirty="0">
                          <a:latin typeface="Arial MT"/>
                          <a:cs typeface="Arial MT"/>
                        </a:rPr>
                        <a:t>C</a:t>
                      </a:r>
                      <a:r>
                        <a:rPr lang="en-US" sz="1500" spc="-10" dirty="0">
                          <a:latin typeface="Arial MT"/>
                          <a:cs typeface="Arial MT"/>
                        </a:rPr>
                        <a:t>308</a:t>
                      </a:r>
                      <a:r>
                        <a:rPr sz="1500" spc="-10" dirty="0">
                          <a:latin typeface="Arial MT"/>
                          <a:cs typeface="Arial MT"/>
                        </a:rPr>
                        <a:t>.1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666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3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dirty="0">
                          <a:latin typeface="Arial MT"/>
                          <a:cs typeface="Arial MT"/>
                        </a:rPr>
                        <a:t>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9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spc="-50" dirty="0">
                          <a:latin typeface="+mn-lt"/>
                          <a:cs typeface="Calibri" panose="020F0502020204030204"/>
                        </a:rPr>
                        <a:t>–</a:t>
                      </a:r>
                      <a:endParaRPr lang="en-IN" sz="1400" b="1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9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500" spc="-10" dirty="0">
                          <a:latin typeface="Arial MT"/>
                          <a:cs typeface="Arial MT"/>
                        </a:rPr>
                        <a:t>C</a:t>
                      </a:r>
                      <a:r>
                        <a:rPr lang="en-US" sz="1500" spc="-10" dirty="0">
                          <a:latin typeface="Arial MT"/>
                          <a:cs typeface="Arial MT"/>
                        </a:rPr>
                        <a:t>308</a:t>
                      </a:r>
                      <a:r>
                        <a:rPr sz="1500" spc="-10" dirty="0">
                          <a:latin typeface="Arial MT"/>
                          <a:cs typeface="Arial MT"/>
                        </a:rPr>
                        <a:t>.2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666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3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lang="en-US" sz="150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98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spc="-50" dirty="0">
                          <a:latin typeface="+mn-lt"/>
                          <a:cs typeface="Calibri" panose="020F0502020204030204"/>
                        </a:rPr>
                        <a:t>–</a:t>
                      </a:r>
                      <a:endParaRPr lang="en-IN" sz="1400" b="1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98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spc="-50" dirty="0">
                          <a:latin typeface="+mn-lt"/>
                          <a:cs typeface="Calibri" panose="020F0502020204030204"/>
                        </a:rPr>
                        <a:t>–</a:t>
                      </a:r>
                      <a:endParaRPr lang="en-IN" sz="1400" b="1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98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spc="-50" dirty="0">
                          <a:latin typeface="Arial MT"/>
                          <a:cs typeface="Calibri" panose="020F0502020204030204"/>
                        </a:rPr>
                        <a:t>1</a:t>
                      </a:r>
                      <a:endParaRPr lang="en-IN" sz="1400" b="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9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500" spc="-10" dirty="0">
                          <a:latin typeface="Arial MT"/>
                          <a:cs typeface="Arial MT"/>
                        </a:rPr>
                        <a:t>C</a:t>
                      </a:r>
                      <a:r>
                        <a:rPr lang="en-US" sz="1500" spc="-10" dirty="0">
                          <a:latin typeface="Arial MT"/>
                          <a:cs typeface="Arial MT"/>
                        </a:rPr>
                        <a:t>308</a:t>
                      </a:r>
                      <a:r>
                        <a:rPr sz="1500" spc="-10" dirty="0">
                          <a:latin typeface="Arial MT"/>
                          <a:cs typeface="Arial MT"/>
                        </a:rPr>
                        <a:t>.3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666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3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3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9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spc="-50" dirty="0">
                          <a:latin typeface="+mn-lt"/>
                          <a:cs typeface="Calibri" panose="020F0502020204030204"/>
                        </a:rPr>
                        <a:t>–</a:t>
                      </a:r>
                      <a:endParaRPr lang="en-IN" sz="1400" b="1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3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9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spc="-50" dirty="0">
                          <a:latin typeface="+mn-lt"/>
                          <a:cs typeface="Calibri" panose="020F0502020204030204"/>
                        </a:rPr>
                        <a:t>–</a:t>
                      </a:r>
                      <a:endParaRPr lang="en-IN" sz="1400" b="1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5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500" spc="-10" dirty="0">
                          <a:latin typeface="Arial MT"/>
                          <a:cs typeface="Arial MT"/>
                        </a:rPr>
                        <a:t>C</a:t>
                      </a:r>
                      <a:r>
                        <a:rPr lang="en-US" sz="1500" spc="-10" dirty="0">
                          <a:latin typeface="Arial MT"/>
                          <a:cs typeface="Arial MT"/>
                        </a:rPr>
                        <a:t>308</a:t>
                      </a:r>
                      <a:r>
                        <a:rPr sz="1500" spc="-10" dirty="0">
                          <a:latin typeface="Arial MT"/>
                          <a:cs typeface="Arial MT"/>
                        </a:rPr>
                        <a:t>.4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666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3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3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lang="en-US" sz="1500" dirty="0">
                          <a:latin typeface="Arial MT"/>
                          <a:cs typeface="Arial MT"/>
                        </a:rPr>
                        <a:t>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3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3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98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spc="-50" dirty="0">
                          <a:latin typeface="+mn-lt"/>
                          <a:cs typeface="Calibri" panose="020F0502020204030204"/>
                        </a:rPr>
                        <a:t>–</a:t>
                      </a:r>
                      <a:endParaRPr lang="en-IN" sz="1400" b="1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9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500" spc="-10" dirty="0">
                          <a:latin typeface="Arial MT"/>
                          <a:cs typeface="Arial MT"/>
                        </a:rPr>
                        <a:t>C</a:t>
                      </a:r>
                      <a:r>
                        <a:rPr lang="en-US" sz="1500" spc="-10" dirty="0">
                          <a:latin typeface="Arial MT"/>
                          <a:cs typeface="Arial MT"/>
                        </a:rPr>
                        <a:t>308</a:t>
                      </a:r>
                      <a:r>
                        <a:rPr sz="1500" spc="-10" dirty="0">
                          <a:latin typeface="Arial MT"/>
                          <a:cs typeface="Arial MT"/>
                        </a:rPr>
                        <a:t>.5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666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9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spc="-50" dirty="0">
                          <a:latin typeface="+mn-lt"/>
                          <a:cs typeface="Calibri" panose="020F0502020204030204"/>
                        </a:rPr>
                        <a:t>–</a:t>
                      </a:r>
                      <a:endParaRPr lang="en-IN" sz="1400" b="1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9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spc="-50" dirty="0">
                          <a:latin typeface="+mn-lt"/>
                          <a:cs typeface="Calibri" panose="020F0502020204030204"/>
                        </a:rPr>
                        <a:t>–</a:t>
                      </a:r>
                      <a:endParaRPr lang="en-IN" sz="1400" b="1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IN" sz="1600" b="1" spc="-50" dirty="0">
                          <a:latin typeface="+mn-lt"/>
                          <a:cs typeface="Calibri" panose="020F0502020204030204"/>
                        </a:rPr>
                        <a:t>–</a:t>
                      </a:r>
                      <a:endParaRPr sz="1500" b="1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9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spc="-50" dirty="0">
                          <a:latin typeface="+mn-lt"/>
                          <a:cs typeface="Calibri" panose="020F0502020204030204"/>
                        </a:rPr>
                        <a:t>–</a:t>
                      </a:r>
                      <a:endParaRPr lang="en-IN" sz="1400" b="1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9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spc="-50" dirty="0">
                          <a:latin typeface="+mn-lt"/>
                          <a:cs typeface="Calibri" panose="020F0502020204030204"/>
                        </a:rPr>
                        <a:t>–</a:t>
                      </a:r>
                      <a:endParaRPr lang="en-IN" sz="1400" b="1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3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9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spc="-50">
                          <a:latin typeface="Arial MT"/>
                          <a:cs typeface="Calibri" panose="020F0502020204030204"/>
                        </a:rPr>
                        <a:t>1</a:t>
                      </a:r>
                      <a:endParaRPr lang="en-IN" sz="1400" b="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500" b="1" spc="-20" dirty="0">
                          <a:latin typeface="Arial" panose="020B0604020202020204"/>
                          <a:cs typeface="Arial" panose="020B0604020202020204"/>
                        </a:rPr>
                        <a:t>C</a:t>
                      </a:r>
                      <a:r>
                        <a:rPr lang="en-US" sz="1500" b="1" spc="-20" dirty="0">
                          <a:latin typeface="Arial" panose="020B0604020202020204"/>
                          <a:cs typeface="Arial" panose="020B0604020202020204"/>
                        </a:rPr>
                        <a:t>308</a:t>
                      </a:r>
                      <a:endParaRPr sz="1500" dirty="0">
                        <a:latin typeface="Arial" panose="020B0604020202020204"/>
                        <a:cs typeface="Arial" panose="020B0604020202020204"/>
                      </a:endParaRPr>
                    </a:p>
                    <a:p>
                      <a:pPr marL="180340">
                        <a:lnSpc>
                          <a:spcPct val="100000"/>
                        </a:lnSpc>
                      </a:pPr>
                      <a:r>
                        <a:rPr sz="1500" b="1" spc="-20" dirty="0">
                          <a:latin typeface="Arial" panose="020B0604020202020204"/>
                          <a:cs typeface="Arial" panose="020B0604020202020204"/>
                        </a:rPr>
                        <a:t>Avg.</a:t>
                      </a:r>
                      <a:endParaRPr sz="15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666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lang="en-US" sz="1500" spc="-25" dirty="0">
                          <a:latin typeface="Arial MT"/>
                          <a:cs typeface="Arial MT"/>
                        </a:rPr>
                        <a:t>1.6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1500" spc="-25" dirty="0">
                          <a:latin typeface="Arial MT"/>
                          <a:cs typeface="Arial MT"/>
                        </a:rPr>
                        <a:t>2.</a:t>
                      </a:r>
                      <a:r>
                        <a:rPr lang="en-US" sz="1500" spc="-25" dirty="0">
                          <a:latin typeface="Arial MT"/>
                          <a:cs typeface="Arial MT"/>
                        </a:rPr>
                        <a:t>0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lang="en-US" sz="1500" spc="-25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500" spc="-25" dirty="0">
                          <a:latin typeface="Arial MT"/>
                          <a:cs typeface="Arial MT"/>
                        </a:rPr>
                        <a:t>.4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lang="en-US" sz="1500" spc="-25" dirty="0">
                          <a:latin typeface="Arial MT"/>
                          <a:cs typeface="Arial MT"/>
                        </a:rPr>
                        <a:t>1.4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lang="en-US" sz="1500" spc="-25" dirty="0">
                          <a:latin typeface="Arial MT"/>
                          <a:cs typeface="Arial MT"/>
                        </a:rPr>
                        <a:t>1.6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lang="en-US" sz="1500" spc="-25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500" spc="-25" dirty="0">
                          <a:latin typeface="Arial MT"/>
                          <a:cs typeface="Arial MT"/>
                        </a:rPr>
                        <a:t>.</a:t>
                      </a:r>
                      <a:r>
                        <a:rPr lang="en-US" sz="1500" spc="-25" dirty="0">
                          <a:latin typeface="Arial MT"/>
                          <a:cs typeface="Arial MT"/>
                        </a:rPr>
                        <a:t>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1500" spc="-25" dirty="0">
                          <a:latin typeface="Arial MT"/>
                          <a:cs typeface="Arial MT"/>
                        </a:rPr>
                        <a:t>0.</a:t>
                      </a:r>
                      <a:r>
                        <a:rPr lang="en-US" sz="1500" spc="-25" dirty="0">
                          <a:latin typeface="Arial MT"/>
                          <a:cs typeface="Arial MT"/>
                        </a:rPr>
                        <a:t>6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1500" spc="-25" dirty="0">
                          <a:latin typeface="Arial MT"/>
                          <a:cs typeface="Arial MT"/>
                        </a:rPr>
                        <a:t>1.6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lang="en-US" sz="1500" spc="-25" dirty="0">
                          <a:latin typeface="Arial MT"/>
                          <a:cs typeface="Arial MT"/>
                        </a:rPr>
                        <a:t>1.6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lang="en-US" sz="1500" spc="-25" dirty="0">
                          <a:latin typeface="Arial MT"/>
                          <a:cs typeface="Arial MT"/>
                        </a:rPr>
                        <a:t>1.0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lang="en-US" sz="1500" spc="-25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500" spc="-25" dirty="0">
                          <a:latin typeface="Arial MT"/>
                          <a:cs typeface="Arial MT"/>
                        </a:rPr>
                        <a:t>.</a:t>
                      </a:r>
                      <a:r>
                        <a:rPr lang="en-US" sz="1500" spc="-25" dirty="0">
                          <a:latin typeface="Arial MT"/>
                          <a:cs typeface="Arial MT"/>
                        </a:rPr>
                        <a:t>4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1500" spc="-25" dirty="0">
                          <a:latin typeface="Arial MT"/>
                          <a:cs typeface="Arial MT"/>
                        </a:rPr>
                        <a:t>2.</a:t>
                      </a:r>
                      <a:r>
                        <a:rPr lang="en-US" sz="1500" spc="-25" dirty="0">
                          <a:latin typeface="Arial MT"/>
                          <a:cs typeface="Arial MT"/>
                        </a:rPr>
                        <a:t>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809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lang="en-US" sz="1500" spc="-25" dirty="0">
                          <a:latin typeface="Arial MT"/>
                          <a:cs typeface="Arial MT"/>
                        </a:rPr>
                        <a:t>0.4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90163" y="5407513"/>
            <a:ext cx="4848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HIGH:</a:t>
            </a:r>
            <a:r>
              <a:rPr sz="1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3;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MEDIUM: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2;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LOW: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1;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NO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CONTRIBUTION: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–</a:t>
            </a:r>
            <a:endParaRPr sz="18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43DC0C-008B-7A41-B0D5-2B53E2F0DEE5}"/>
              </a:ext>
            </a:extLst>
          </p:cNvPr>
          <p:cNvSpPr txBox="1"/>
          <p:nvPr/>
        </p:nvSpPr>
        <p:spPr>
          <a:xfrm>
            <a:off x="685800" y="63246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16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739" y="84315"/>
            <a:ext cx="1203452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74870">
              <a:lnSpc>
                <a:spcPct val="100000"/>
              </a:lnSpc>
              <a:spcBef>
                <a:spcPts val="95"/>
              </a:spcBef>
            </a:pPr>
            <a:r>
              <a:rPr lang="en-US" spc="-10" dirty="0">
                <a:latin typeface="Calibri" panose="020F0502020204030204"/>
                <a:cs typeface="Calibri" panose="020F0502020204030204"/>
              </a:rPr>
              <a:t>9.</a:t>
            </a:r>
            <a:r>
              <a:rPr spc="-10" dirty="0">
                <a:latin typeface="Calibri" panose="020F0502020204030204"/>
                <a:cs typeface="Calibri" panose="020F0502020204030204"/>
              </a:rPr>
              <a:t>Conclusion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5080" indent="-457200" algn="just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The Smart Medicine Cabinet offers a low-cost, real-time approach to managing home and pharmacy medicine stock using RFID/QR-based expiry tracking and inventory sensing on a single ESP32-based unit.</a:t>
            </a:r>
          </a:p>
          <a:p>
            <a:pPr marL="469265" marR="5080" indent="-457200" algn="just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It enables early detection of expiring or low-stock medicines before they are consumed unsafely or run out unexpectedly, allowing users to act before the problem escalates.</a:t>
            </a:r>
          </a:p>
          <a:p>
            <a:pPr marL="469265" marR="5080" indent="-457200" algn="just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By combining expiry tracking with automated stock counting and mobile alerts, the system pinpoints exactly which medicines need attention, cutting down manual search and checking time.</a:t>
            </a:r>
          </a:p>
          <a:p>
            <a:pPr marL="469265" marR="5080" indent="-457200" algn="just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The design supports safer medication use by warning of impending expiry before a medicine is taken or dispensed.</a:t>
            </a:r>
          </a:p>
          <a:p>
            <a:pPr marL="469265" marR="5080" indent="-457200" algn="just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Overall, the system provides a practical, scalable step toward smarter medicine management, reducing pharmaceutical waste and promoting responsible consumption in line with SDG 12.</a:t>
            </a: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AB8637-8DCA-90D1-87AC-C13866DFB92B}"/>
              </a:ext>
            </a:extLst>
          </p:cNvPr>
          <p:cNvSpPr txBox="1"/>
          <p:nvPr/>
        </p:nvSpPr>
        <p:spPr>
          <a:xfrm>
            <a:off x="762000" y="632460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17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762000"/>
            <a:ext cx="12034520" cy="556260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355600" marR="5080" indent="-342900" algn="just">
              <a:lnSpc>
                <a:spcPct val="97000"/>
              </a:lnSpc>
              <a:spcBef>
                <a:spcPts val="515"/>
              </a:spcBef>
              <a:buSzPct val="97000"/>
              <a:buAutoNum type="arabicPeriod"/>
              <a:tabLst>
                <a:tab pos="355600" algn="l"/>
              </a:tabLst>
            </a:pPr>
            <a:r>
              <a:rPr sz="1600" dirty="0">
                <a:latin typeface="Arial MT"/>
                <a:cs typeface="Arial MT"/>
              </a:rPr>
              <a:t>Brittain, C.G. and Lau, I.G. and Jones, A.L. (2024) 'Application of RFID Inventory Tracking Technology in the Hospital Pharmacy Setting', IEEE.</a:t>
            </a:r>
          </a:p>
          <a:p>
            <a:pPr marL="355600" marR="5080" indent="-342900" algn="just">
              <a:lnSpc>
                <a:spcPct val="97000"/>
              </a:lnSpc>
              <a:spcBef>
                <a:spcPts val="515"/>
              </a:spcBef>
              <a:buSzPct val="97000"/>
              <a:buAutoNum type="arabicPeriod"/>
              <a:tabLst>
                <a:tab pos="355600" algn="l"/>
              </a:tabLst>
            </a:pPr>
            <a:r>
              <a:rPr sz="1600" dirty="0">
                <a:latin typeface="Arial MT"/>
                <a:cs typeface="Arial MT"/>
              </a:rPr>
              <a:t>de Lima, M.R. and Su, T. and Jouaiti, M. and Wairagkar, M. and Malhotra, P. and Soreq, E. and Barnaghi, P. and Vaidyanathan, R. (2023) 'Discovering Behavioral Patterns Using Conversational Technology for In-Home Health and Well-Being Monitoring', IEEE Internet of Things Journal, Vol.10, pp.18537-18552.</a:t>
            </a:r>
          </a:p>
          <a:p>
            <a:pPr marL="355600" marR="5080" indent="-342900" algn="just">
              <a:lnSpc>
                <a:spcPct val="97000"/>
              </a:lnSpc>
              <a:spcBef>
                <a:spcPts val="515"/>
              </a:spcBef>
              <a:buSzPct val="97000"/>
              <a:buAutoNum type="arabicPeriod"/>
              <a:tabLst>
                <a:tab pos="355600" algn="l"/>
              </a:tabLst>
            </a:pPr>
            <a:r>
              <a:rPr sz="1600" dirty="0">
                <a:latin typeface="Arial MT"/>
                <a:cs typeface="Arial MT"/>
              </a:rPr>
              <a:t>Ekharkar, S. and Awari, C. and Yadav, A. and Sahu, M. and Thomas, A. (2025) 'AI-Integrated Smart Medicine Dispenser with IoT Connectivity', IEEE.</a:t>
            </a:r>
          </a:p>
          <a:p>
            <a:pPr marL="355600" marR="5080" indent="-342900" algn="just">
              <a:lnSpc>
                <a:spcPct val="97000"/>
              </a:lnSpc>
              <a:spcBef>
                <a:spcPts val="515"/>
              </a:spcBef>
              <a:buSzPct val="97000"/>
              <a:buAutoNum type="arabicPeriod"/>
              <a:tabLst>
                <a:tab pos="355600" algn="l"/>
              </a:tabLst>
            </a:pPr>
            <a:r>
              <a:rPr sz="1600" dirty="0">
                <a:latin typeface="Arial MT"/>
                <a:cs typeface="Arial MT"/>
              </a:rPr>
              <a:t>Ghafurian, M. and Wang, K. and Dhode, I. and Kapoor, M. and Morita, P.P. and Dautenhahn, K. (2023) 'Smart Home Devices for Supporting Older Adults: A Systematic Review', IEEE Access, Vol.11, pp.47137-47158.</a:t>
            </a:r>
          </a:p>
          <a:p>
            <a:pPr marL="355600" marR="5080" indent="-342900" algn="just">
              <a:lnSpc>
                <a:spcPct val="97000"/>
              </a:lnSpc>
              <a:spcBef>
                <a:spcPts val="515"/>
              </a:spcBef>
              <a:buSzPct val="97000"/>
              <a:buAutoNum type="arabicPeriod"/>
              <a:tabLst>
                <a:tab pos="355600" algn="l"/>
              </a:tabLst>
            </a:pPr>
            <a:r>
              <a:rPr sz="1600" dirty="0">
                <a:latin typeface="Arial MT"/>
                <a:cs typeface="Arial MT"/>
              </a:rPr>
              <a:t>Himi, S.T. and Monalisa, N.T. and Whaiduzzaman, M. and Barros, A. and Uddin, M.S. (2023) 'MedAi: A Smartwatch-Based Application Framework for the Prediction of Common Diseases Using Machine Learning', IEEE Access, Vol.11, pp.12342-12359.</a:t>
            </a:r>
          </a:p>
          <a:p>
            <a:pPr marL="355600" marR="5080" indent="-342900" algn="just">
              <a:lnSpc>
                <a:spcPct val="97000"/>
              </a:lnSpc>
              <a:spcBef>
                <a:spcPts val="515"/>
              </a:spcBef>
              <a:buSzPct val="97000"/>
              <a:buAutoNum type="arabicPeriod"/>
              <a:tabLst>
                <a:tab pos="355600" algn="l"/>
              </a:tabLst>
            </a:pPr>
            <a:r>
              <a:rPr sz="1600" dirty="0">
                <a:latin typeface="Arial MT"/>
                <a:cs typeface="Arial MT"/>
              </a:rPr>
              <a:t>Isharyani, M.E. and Sopha, B.M. and Tjahjono, B. and Wibisono, M.A. (2023) 'Exploring the Smart Retail Scenario for Traditional Retailers: Case Studies From a Developing Country', IEEE Transactions on Engineering Management, Vol.71, pp.9325-9341.</a:t>
            </a:r>
          </a:p>
          <a:p>
            <a:pPr marL="355600" marR="5080" indent="-342900" algn="just">
              <a:lnSpc>
                <a:spcPct val="97000"/>
              </a:lnSpc>
              <a:spcBef>
                <a:spcPts val="515"/>
              </a:spcBef>
              <a:buSzPct val="97000"/>
              <a:buAutoNum type="arabicPeriod"/>
              <a:tabLst>
                <a:tab pos="355600" algn="l"/>
              </a:tabLst>
            </a:pPr>
            <a:r>
              <a:rPr sz="1600" dirty="0">
                <a:latin typeface="Arial MT"/>
                <a:cs typeface="Arial MT"/>
              </a:rPr>
              <a:t>Kumbar, S.S. and Bharamagoudar, G.R. and Totad, S.G. (2026) 'Smart Medicine Alert Kit', IEEE.</a:t>
            </a:r>
          </a:p>
          <a:p>
            <a:pPr marL="355600" marR="5080" indent="-342900" algn="just">
              <a:lnSpc>
                <a:spcPct val="97000"/>
              </a:lnSpc>
              <a:spcBef>
                <a:spcPts val="515"/>
              </a:spcBef>
              <a:buSzPct val="97000"/>
              <a:buAutoNum type="arabicPeriod"/>
              <a:tabLst>
                <a:tab pos="355600" algn="l"/>
              </a:tabLst>
            </a:pPr>
            <a:r>
              <a:rPr sz="1600" dirty="0">
                <a:latin typeface="Arial MT"/>
                <a:cs typeface="Arial MT"/>
              </a:rPr>
              <a:t>Satanure, D. and Kamlaskar, S. and Vaidya, Y. and Metkar, S. (2025) 'Design and Implementation of a Smart Medicine Reminder Kit for Elderly Care', 2025 Global Conference on Emerging Technology (GINOTECH), pp.153-157.</a:t>
            </a:r>
          </a:p>
          <a:p>
            <a:pPr marL="355600" marR="5080" indent="-342900" algn="just">
              <a:lnSpc>
                <a:spcPct val="97000"/>
              </a:lnSpc>
              <a:spcBef>
                <a:spcPts val="515"/>
              </a:spcBef>
              <a:buSzPct val="97000"/>
              <a:buAutoNum type="arabicPeriod"/>
              <a:tabLst>
                <a:tab pos="355600" algn="l"/>
              </a:tabLst>
            </a:pPr>
            <a:r>
              <a:rPr sz="1600" dirty="0">
                <a:latin typeface="Arial MT"/>
                <a:cs typeface="Arial MT"/>
              </a:rPr>
              <a:t>Vimal, S. and Vishnu Shiva Prakash, S. and Surendar, P.S. and Veeravasanthan, R. and Sumathi, S. (2024) 'A Smart Pill Dispenser with Real Time Alerts, Remote Access, and Enhanced Safety', IEEE.</a:t>
            </a:r>
          </a:p>
          <a:p>
            <a:pPr marL="355600" marR="5080" indent="-342900" algn="just">
              <a:lnSpc>
                <a:spcPct val="97000"/>
              </a:lnSpc>
              <a:spcBef>
                <a:spcPts val="515"/>
              </a:spcBef>
              <a:buSzPct val="97000"/>
              <a:buAutoNum type="arabicPeriod"/>
              <a:tabLst>
                <a:tab pos="355600" algn="l"/>
              </a:tabLst>
            </a:pPr>
            <a:r>
              <a:rPr sz="1600" dirty="0">
                <a:latin typeface="Arial MT"/>
                <a:cs typeface="Arial MT"/>
              </a:rPr>
              <a:t>Xu, J. and Ye, Y. and Wu, L. and Wang, X. (2023) 'The Principle, Methods and Recent Progress in RFID Positioning Techniques: A Review', IEEE Journal of Radio Frequency Identification, Vol.7, pp.50-63.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8738" y="90330"/>
            <a:ext cx="11960862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561330">
              <a:lnSpc>
                <a:spcPct val="100000"/>
              </a:lnSpc>
              <a:spcBef>
                <a:spcPts val="95"/>
              </a:spcBef>
            </a:pPr>
            <a:r>
              <a:rPr lang="en-US" spc="-10" dirty="0"/>
              <a:t>10.</a:t>
            </a:r>
            <a:r>
              <a:rPr spc="-10" dirty="0"/>
              <a:t>References</a:t>
            </a: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0E2041-1411-9B6F-7E40-33592F9DC35F}"/>
              </a:ext>
            </a:extLst>
          </p:cNvPr>
          <p:cNvSpPr txBox="1"/>
          <p:nvPr/>
        </p:nvSpPr>
        <p:spPr>
          <a:xfrm>
            <a:off x="685800" y="63246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18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556</TotalTime>
  <Words>2592</Words>
  <Application>Microsoft Office PowerPoint</Application>
  <PresentationFormat>Widescreen</PresentationFormat>
  <Paragraphs>334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Arial Black</vt:lpstr>
      <vt:lpstr>Arial Bold</vt:lpstr>
      <vt:lpstr>Arial MT</vt:lpstr>
      <vt:lpstr>Calibri</vt:lpstr>
      <vt:lpstr>Times New Roman</vt:lpstr>
      <vt:lpstr>Wingdings</vt:lpstr>
      <vt:lpstr>Office Theme</vt:lpstr>
      <vt:lpstr>PowerPoint Presentation</vt:lpstr>
      <vt:lpstr>Contents</vt:lpstr>
      <vt:lpstr>1.Project Title and Type of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3.Motivation and Gaps</vt:lpstr>
      <vt:lpstr>4.Project Requirements</vt:lpstr>
      <vt:lpstr>Project Requirements</vt:lpstr>
      <vt:lpstr>Project Requirements</vt:lpstr>
      <vt:lpstr>5.Objectives</vt:lpstr>
      <vt:lpstr>6.Expected Outcome</vt:lpstr>
      <vt:lpstr>7.SDG Number and Global Challenge</vt:lpstr>
      <vt:lpstr>8.Project Domain Mapping with POs / PSOs with justification</vt:lpstr>
      <vt:lpstr>9.Conclusion</vt:lpstr>
      <vt:lpstr>10.References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Batch Number: 1</dc:title>
  <dc:creator>Madhushree Kalyanasundram</dc:creator>
  <cp:lastModifiedBy>Eren Yeager</cp:lastModifiedBy>
  <cp:revision>27</cp:revision>
  <dcterms:created xsi:type="dcterms:W3CDTF">2026-07-04T00:08:00Z</dcterms:created>
  <dcterms:modified xsi:type="dcterms:W3CDTF">2026-07-29T15:54:27Z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2025-12-10T05:30:00Z</vt:filetime>
  </property>
  <property fmtid="{D5CDD505-2E9C-101B-9397-08002B2CF9AE}" pid="4" name="Creator">
    <vt:lpwstr>WPS Presentation</vt:lpwstr>
  </property>
  <property fmtid="{D5CDD505-2E9C-101B-9397-08002B2CF9AE}" pid="5" name="LastSaved">
    <vt:filetime>2026-07-04T05:30:00Z</vt:filetime>
  </property>
  <property fmtid="{D5CDD505-2E9C-101B-9397-08002B2CF9AE}" pid="6" name="SourceModified">
    <vt:lpwstr>D:20251210182435+05'30'</vt:lpwstr>
  </property>
  <property fmtid="{D5CDD505-2E9C-101B-9397-08002B2CF9AE}" pid="7" name="KSOProductBuildVer">
    <vt:lpwstr>1033-12.1.0.26880</vt:lpwstr>
  </property>
  <property fmtid="{D5CDD505-2E9C-101B-9397-08002B2CF9AE}" pid="8" name="ICV">
    <vt:lpwstr>1CC8D5C8BF1C408FA2FE6993CB23F4ED_12</vt:lpwstr>
  </property>
</Properties>
</file>